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Side-by-Side Comparison  </a:t>
            </a:r>
            <a:pPr indent="0" marL="0">
              <a:buNone/>
            </a:pPr>
            <a:r>
              <a:rPr lang="en-US" sz="1600" dirty="0">
                <a:solidFill>
                  <a:srgbClr val="CD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UnifyApps Proposal vs Our Delivered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DLD-IRETP-2026-001  •  Same scope, two delivery models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703320" cy="960120"/>
          </a:xfrm>
          <a:prstGeom prst="rect">
            <a:avLst/>
          </a:prstGeom>
          <a:solidFill>
            <a:srgbClr val="F8F9F8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960120"/>
          </a:xfrm>
          <a:prstGeom prst="rect">
            <a:avLst/>
          </a:prstGeom>
          <a:solidFill>
            <a:srgbClr val="06673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601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~3× lower TCO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5-yr: AED 5.1M (ours) vs AED 14.8M (UnifyApps)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this proposal §7.4; our internal cost deck.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914400"/>
            <a:ext cx="3703320" cy="960120"/>
          </a:xfrm>
          <a:prstGeom prst="rect">
            <a:avLst/>
          </a:prstGeom>
          <a:solidFill>
            <a:srgbClr val="F8F9F8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914400"/>
            <a:ext cx="73152" cy="960120"/>
          </a:xfrm>
          <a:prstGeom prst="rect">
            <a:avLst/>
          </a:prstGeom>
          <a:solidFill>
            <a:srgbClr val="066735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9601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not Day-90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12984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88/88 xUnit pass; 28+ pages render today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15179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UnifyApps prototype = mock screens only.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914400"/>
            <a:ext cx="3703320" cy="960120"/>
          </a:xfrm>
          <a:prstGeom prst="rect">
            <a:avLst/>
          </a:prstGeom>
          <a:solidFill>
            <a:srgbClr val="F8F9F8"/>
          </a:solidFill>
          <a:ln w="9525">
            <a:solidFill>
              <a:srgbClr val="D9DDD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914400"/>
            <a:ext cx="73152" cy="960120"/>
          </a:xfrm>
          <a:prstGeom prst="rect">
            <a:avLst/>
          </a:prstGeom>
          <a:solidFill>
            <a:srgbClr val="06673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9601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source-owned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12984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subscription, no per-seat fees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151790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UnifyApps = platform license + PS each year.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011680"/>
            <a:ext cx="2331720" cy="420624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1" name="Shape 19"/>
          <p:cNvSpPr/>
          <p:nvPr/>
        </p:nvSpPr>
        <p:spPr>
          <a:xfrm>
            <a:off x="2697480" y="2011680"/>
            <a:ext cx="4526280" cy="420624"/>
          </a:xfrm>
          <a:prstGeom prst="rect">
            <a:avLst/>
          </a:prstGeom>
          <a:solidFill>
            <a:srgbClr val="3F4753"/>
          </a:solidFill>
          <a:ln/>
        </p:spPr>
      </p:sp>
      <p:sp>
        <p:nvSpPr>
          <p:cNvPr id="22" name="Shape 20"/>
          <p:cNvSpPr/>
          <p:nvPr/>
        </p:nvSpPr>
        <p:spPr>
          <a:xfrm>
            <a:off x="7223760" y="2011680"/>
            <a:ext cx="4526280" cy="420624"/>
          </a:xfrm>
          <a:prstGeom prst="rect">
            <a:avLst/>
          </a:prstGeom>
          <a:solidFill>
            <a:srgbClr val="0667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01168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8892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UnifyApps Proposal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IRETP System (already built)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2432304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7480" y="2432304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2432304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43230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88920" y="243230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platform (UnifyApps OS for AI) + Professional Services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0" y="243230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.NET 9 / Blazor Server / EF Core — purpose-built, 100% owned source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2761488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7480" y="2761488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2761488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76148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today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88920" y="276148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Public-portal screen prototype on DLD design language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15200" y="276148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working system: 18 public + 10 admin pages return 200; build 0/0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090672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3090672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23760" y="3090672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09067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88920" y="30906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calendar days from contract signing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15200" y="309067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4-month build plan (M1–M4); core features already implemented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3419856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97480" y="3419856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3419856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4198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88920" y="341985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UnifyApps OS + Mongo + StarRocks + Kafka + OpenSearch + Redis on K8s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15200" y="341985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9, Blazor Server, EF Core, SQL Server, Hangfire, SignalR, Redis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3749040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97480" y="3749040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23760" y="3749040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374904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88920" y="374904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orchestration, RAG via OpenSearch, system-prompt non-advisory guardrail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315200" y="374904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Tier-aware orchestrator + RAG w/ deterministic stats + regex+keyword guardrail + 14-Q accuracy harness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4078224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97480" y="4078224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23760" y="4078224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07822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GIS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88920" y="407822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JS, Dubai zone GeoJSON, 3 heatmap layers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315200" y="407822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+ 4 heatmap modes (vol / PSF / yield / ESG) + 183 individual project pins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4407408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97480" y="4407408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23760" y="4407408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440740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EWRS (Phase 2)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788920" y="440740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 rules engine, configurable thresholds, multi-level escalation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315200" y="4407408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10-indicator engine + L1–L4 auto-escalation (Hangfire) + immutable audit log §10.2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" y="4736592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97480" y="4736592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23760" y="4736592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73659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GRETI beyond-brief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788920" y="473659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Beneficial Ownership + Mortgage Transparency — proposed roadmap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7315200" y="473659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shipping: BeneficialOwnership page (Arabic owners) + Mortgage page w/ 5 KPIs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65760" y="5065776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97480" y="5065776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23760" y="5065776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50657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788920" y="506577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ISR v3 roadmap; ISO 27001 target +6 mo; VAPT pre-engaged Day 1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7315200" y="5065776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 immutability, security CI (vuln pkg + OWASP ZAP + Bicep lint), SLO health probe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65760" y="5394960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97480" y="5394960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23760" y="5394960"/>
            <a:ext cx="4526280" cy="329184"/>
          </a:xfrm>
          <a:prstGeom prst="rect">
            <a:avLst/>
          </a:prstGeom>
          <a:solidFill>
            <a:srgbClr val="F4F6F4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57200" y="5394960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(5-yr TCO)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788920" y="53949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14.8 M (UnifyApps scope, on-prem) + AED 440K/yr warranty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315200" y="53949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≈5.1 M  (CAPEX 2.58M + 4× OPEX 629K) — no platform license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65760" y="5724144"/>
            <a:ext cx="2331720" cy="329184"/>
          </a:xfrm>
          <a:prstGeom prst="rect">
            <a:avLst/>
          </a:prstGeom>
          <a:solidFill>
            <a:srgbClr val="E8ECE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97480" y="5724144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223760" y="5724144"/>
            <a:ext cx="45262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DDD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57200" y="5724144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lock-in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2788920" y="572414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IP retained by UnifyApps; configs/data exit on request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315200" y="5724144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6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+ IaC + docs handed over Day 1 — zero vendor lock-in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65760" y="6117336"/>
            <a:ext cx="11384280" cy="420624"/>
          </a:xfrm>
          <a:prstGeom prst="rect">
            <a:avLst/>
          </a:prstGeom>
          <a:solidFill>
            <a:srgbClr val="066735"/>
          </a:solidFill>
          <a:ln/>
        </p:spPr>
      </p:sp>
      <p:sp>
        <p:nvSpPr>
          <p:cNvPr id="93" name="Text 91"/>
          <p:cNvSpPr/>
          <p:nvPr/>
        </p:nvSpPr>
        <p:spPr>
          <a:xfrm>
            <a:off x="502920" y="6117336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IRETP today at ~⅓ the 5-year TCO of the SaaS proposal, with full source ownership and zero per-user fees.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365760" y="6574536"/>
            <a:ext cx="11384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A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DLD-IRETP-2026 UnifyApps Technical Proposal (May 2026) §3.4 / §6 / §7.4 / §12  ·  IRETP internal cost deck  ·  project_iretp_rfp_progress.md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IRETP — UnifyApps vs Our System</dc:title>
  <dc:subject>PptxGenJS Presentation</dc:subject>
  <dc:creator>PptxGenJS</dc:creator>
  <cp:lastModifiedBy>PptxGenJS</cp:lastModifiedBy>
  <cp:revision>1</cp:revision>
  <dcterms:created xsi:type="dcterms:W3CDTF">2026-05-15T12:24:32Z</dcterms:created>
  <dcterms:modified xsi:type="dcterms:W3CDTF">2026-05-15T12:24:32Z</dcterms:modified>
</cp:coreProperties>
</file>