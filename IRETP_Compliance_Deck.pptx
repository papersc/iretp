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0"/>
            <a:ext cx="4114800" cy="685800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6675120"/>
            <a:ext cx="4114800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0" y="109728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9600" dirty="0"/>
          </a:p>
        </p:txBody>
      </p:sp>
      <p:sp>
        <p:nvSpPr>
          <p:cNvPr id="6" name="Text 4"/>
          <p:cNvSpPr/>
          <p:nvPr/>
        </p:nvSpPr>
        <p:spPr>
          <a:xfrm>
            <a:off x="8503920" y="24688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IDs (FR / AN / AI / ESC / EW / DR / NFR / TH / DA / PD / NA / LN / DG / WS / AC / AF)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503920" y="32918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phases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503920" y="3749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within the 90-day RFP timeline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68680" y="1005840"/>
            <a:ext cx="146304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0058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RFP v1.2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141732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Compliance Report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868680" y="260604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Real Estate Transparency Platform (IRETP)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68680" y="324612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the IRETP codebase to DLD RFP DLD-IRETP-2026-001 v1.2.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68680" y="5212080"/>
            <a:ext cx="54864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5166360"/>
            <a:ext cx="5943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Issuer   </a:t>
            </a:r>
            <a:endParaRPr lang="en-US" sz="11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Dubai Land Department</a:t>
            </a:r>
            <a:endParaRPr lang="en-US" sz="11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Codebase   </a:t>
            </a:r>
            <a:endParaRPr lang="en-US" sz="11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C:\Users\kalmi\IRETP</a:t>
            </a:r>
            <a:endParaRPr lang="en-US" sz="11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/ Version   </a:t>
            </a:r>
            <a:endParaRPr lang="en-US" sz="11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April 2026  -  v2.0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IRETP — Integrated Real Estate Transparency Platform  |  RFP DLD-IRETP-2026-001 v1.2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37160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7772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1430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109728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240280"/>
            <a:ext cx="69494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Clean-Architecture .NET 9 solution targeting Azure UAE North.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projects: Domain, Application, Infrastructure, WebAPI, AdminAPI, Web (Blazor).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Fabric alignment — Gold layer is the single source of truth for analytics.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Portal visualisation runs on Blazor + Chart.js, not Power BI Embedded.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Bicep IaC, automated CI/CD, OWASP ZAP + CodeQL, full documentation pack.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numbered RFP item (FR-/AN-/AI-/ESC-/EW-/DR-/NFR-/...) maps to live code.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955280" y="2240280"/>
            <a:ext cx="1783080" cy="16916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955280" y="3840480"/>
            <a:ext cx="178308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0" y="237744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7955280" y="32461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Req. IDs covered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966960" y="2240280"/>
            <a:ext cx="1783080" cy="16916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966960" y="3840480"/>
            <a:ext cx="178308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966960" y="237744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9966960" y="32461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/ 90 days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955280" y="4160520"/>
            <a:ext cx="1783080" cy="16916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5760720"/>
            <a:ext cx="178308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55280" y="429768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7955280" y="51663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Hangfire jobs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966960" y="4160520"/>
            <a:ext cx="1783080" cy="16916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966960" y="5760720"/>
            <a:ext cx="178308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966960" y="429768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4400" dirty="0"/>
          </a:p>
        </p:txBody>
      </p:sp>
      <p:sp>
        <p:nvSpPr>
          <p:cNvPr id="24" name="Text 22"/>
          <p:cNvSpPr/>
          <p:nvPr/>
        </p:nvSpPr>
        <p:spPr>
          <a:xfrm>
            <a:off x="9966960" y="51663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roles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6446520"/>
            <a:ext cx="12161520" cy="36576"/>
          </a:xfrm>
          <a:prstGeom prst="rect">
            <a:avLst/>
          </a:prstGeom>
          <a:solidFill>
            <a:srgbClr val="C7D2E0"/>
          </a:solidFill>
          <a:ln w="12700">
            <a:solidFill>
              <a:srgbClr val="C7D2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649224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IRETP — Technical Compliance (RFP v1.2)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515600" y="64922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IRETP — Integrated Real Estate Transparency Platform  |  RFP DLD-IRETP-2026-001 v1.2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37160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7772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1430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Delivery — 90 Days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109728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331720"/>
            <a:ext cx="2594610" cy="0"/>
          </a:xfrm>
          <a:prstGeom prst="rect">
            <a:avLst/>
          </a:prstGeom>
          <a:solidFill>
            <a:srgbClr val="EEF4FA"/>
          </a:solidFill>
          <a:ln w="9525">
            <a:solidFill>
              <a:srgbClr val="C7D2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331720"/>
            <a:ext cx="2594610" cy="5943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40487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17320" y="2404872"/>
            <a:ext cx="15887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Public Portal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13232" y="3108960"/>
            <a:ext cx="2265426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EN+AR + RTL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 map + indices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&amp; Dice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v1 (RAG)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 + Open Data API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Pre-Pub Analytics Assessment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71850" y="2331720"/>
            <a:ext cx="2594610" cy="0"/>
          </a:xfrm>
          <a:prstGeom prst="rect">
            <a:avLst/>
          </a:prstGeom>
          <a:solidFill>
            <a:srgbClr val="EEF4FA"/>
          </a:solidFill>
          <a:ln w="9525">
            <a:solidFill>
              <a:srgbClr val="C7D2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71850" y="2331720"/>
            <a:ext cx="2594610" cy="5943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54730" y="240487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240530" y="2404872"/>
            <a:ext cx="15887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EWRS + Escrow Monitoring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536442" y="3108960"/>
            <a:ext cx="2265426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risk indicators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4-level escalation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Escrow dashboard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health PDF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AI Agent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RBAC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95060" y="2331720"/>
            <a:ext cx="2594610" cy="0"/>
          </a:xfrm>
          <a:prstGeom prst="rect">
            <a:avLst/>
          </a:prstGeom>
          <a:solidFill>
            <a:srgbClr val="EEF4FA"/>
          </a:solidFill>
          <a:ln w="9525">
            <a:solidFill>
              <a:srgbClr val="C7D2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95060" y="2331720"/>
            <a:ext cx="2594610" cy="5943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77940" y="240487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063740" y="2404872"/>
            <a:ext cx="15887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Performance &amp; Rating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59652" y="3108960"/>
            <a:ext cx="2265426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scoring criteria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 + compare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page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scorecard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 VAPT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27001 gap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018270" y="2331720"/>
            <a:ext cx="2594610" cy="0"/>
          </a:xfrm>
          <a:prstGeom prst="rect">
            <a:avLst/>
          </a:prstGeom>
          <a:solidFill>
            <a:srgbClr val="EEF4FA"/>
          </a:solidFill>
          <a:ln w="9525">
            <a:solidFill>
              <a:srgbClr val="C7D2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018270" y="2331720"/>
            <a:ext cx="2594610" cy="5943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201150" y="240487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886950" y="2404872"/>
            <a:ext cx="15887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Languages + Supplements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182862" y="3108960"/>
            <a:ext cx="2265426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extra languages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 (LEED / Estidama)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5-city benchmark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profiles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docs pack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(8 sessions)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6446520"/>
            <a:ext cx="12161520" cy="36576"/>
          </a:xfrm>
          <a:prstGeom prst="rect">
            <a:avLst/>
          </a:prstGeom>
          <a:solidFill>
            <a:srgbClr val="C7D2E0"/>
          </a:solidFill>
          <a:ln w="12700">
            <a:solidFill>
              <a:srgbClr val="C7D2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649224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IRETP — Technical Compliance (RFP v1.2)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515600" y="64922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IRETP — Integrated Real Estate Transparency Platform  |  RFP DLD-IRETP-2026-001 v1.2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37160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7772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1430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Topology &amp; Microsoft Fabric Alignment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109728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240280"/>
            <a:ext cx="49377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Front Door (WAF + CDN, TLS 1.2+) UAE North.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App Service sites: Blazor Web, WebAPI, AdminAPI on a P1v3 plan.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OneLake Gold layer is the single source of truth for analytics.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DB holds platform-state-only tables (alerts, watchlists, audit, AI memory).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Hangfire (9 jobs) for scheduled work; SignalR for real-time alerts.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Insights + Log Analytics; GRS Blob; RTO &lt; 4h / RPO &lt; 1h.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852160" y="2240280"/>
            <a:ext cx="5760720" cy="4023360"/>
          </a:xfrm>
          <a:prstGeom prst="rect">
            <a:avLst/>
          </a:prstGeom>
          <a:solidFill>
            <a:srgbClr val="EEF4FA"/>
          </a:solidFill>
          <a:ln w="9525">
            <a:solidFill>
              <a:srgbClr val="C7D2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26480" y="2468880"/>
            <a:ext cx="5212080" cy="5029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2468880"/>
            <a:ext cx="5212080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Front Door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126480" y="2745486"/>
            <a:ext cx="5212080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 + CDN, TLS 1.2 min  -  UAE North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26480" y="3246120"/>
            <a:ext cx="1615440" cy="6400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3246120"/>
            <a:ext cx="16154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Blazor Web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26480" y="3598164"/>
            <a:ext cx="161544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:5010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924800" y="3246120"/>
            <a:ext cx="1615440" cy="6400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24800" y="3246120"/>
            <a:ext cx="16154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WebAPI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924800" y="3598164"/>
            <a:ext cx="161544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:5000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723120" y="3246120"/>
            <a:ext cx="1615440" cy="6400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723120" y="3246120"/>
            <a:ext cx="16154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AdminAPI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723120" y="3598164"/>
            <a:ext cx="161544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:5002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126480" y="4251960"/>
            <a:ext cx="2423160" cy="59436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0" y="4251960"/>
            <a:ext cx="2423160" cy="326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Fabric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26480" y="4578858"/>
            <a:ext cx="2423160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OneLake Silver / Gold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915400" y="4251960"/>
            <a:ext cx="2423160" cy="59436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15400" y="4251960"/>
            <a:ext cx="2423160" cy="326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DB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915400" y="4578858"/>
            <a:ext cx="2423160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/ audit / state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126480" y="5029200"/>
            <a:ext cx="1554480" cy="5486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26480" y="5029200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Hangfire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126480" y="5330952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jobs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55280" y="5029200"/>
            <a:ext cx="1554480" cy="5486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955280" y="5029200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SignalR Hub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955280" y="5330952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9784080" y="5029200"/>
            <a:ext cx="1554480" cy="5486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784080" y="5029200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Insights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784080" y="5330952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126480" y="57150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Vault (MSI)  |  GRS Blob  |  Log Analytics  |  Bicep IaC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0" y="6446520"/>
            <a:ext cx="12161520" cy="36576"/>
          </a:xfrm>
          <a:prstGeom prst="rect">
            <a:avLst/>
          </a:prstGeom>
          <a:solidFill>
            <a:srgbClr val="C7D2E0"/>
          </a:solidFill>
          <a:ln w="12700">
            <a:solidFill>
              <a:srgbClr val="C7D2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649224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IRETP — Technical Compliance (RFP v1.2)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0515600" y="64922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IRETP — Integrated Real Estate Transparency Platform  |  RFP DLD-IRETP-2026-001 v1.2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37160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7772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1430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Coverage at a Glance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109728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240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numbered RFP requirement is mapped to a real, navigable code artefact.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788920"/>
            <a:ext cx="2029968" cy="1554480"/>
          </a:xfrm>
          <a:prstGeom prst="rect">
            <a:avLst/>
          </a:prstGeom>
          <a:solidFill>
            <a:srgbClr val="EEF4FA"/>
          </a:solidFill>
          <a:ln w="9525">
            <a:solidFill>
              <a:srgbClr val="C7D2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788920"/>
            <a:ext cx="2029968" cy="914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953512"/>
            <a:ext cx="1847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FR-001 → FR-014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566160"/>
            <a:ext cx="18470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Portal (CMS, Home, Tx, GIS, Indices)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807208" y="2788920"/>
            <a:ext cx="2029968" cy="1554480"/>
          </a:xfrm>
          <a:prstGeom prst="rect">
            <a:avLst/>
          </a:prstGeom>
          <a:solidFill>
            <a:srgbClr val="EEF4FA"/>
          </a:solidFill>
          <a:ln w="9525">
            <a:solidFill>
              <a:srgbClr val="C7D2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07208" y="2788920"/>
            <a:ext cx="2029968" cy="914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98648" y="2953512"/>
            <a:ext cx="1847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AN-001 → AN-006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898648" y="3566160"/>
            <a:ext cx="18470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&amp; Dice analytics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65776" y="2788920"/>
            <a:ext cx="2029968" cy="1554480"/>
          </a:xfrm>
          <a:prstGeom prst="rect">
            <a:avLst/>
          </a:prstGeom>
          <a:solidFill>
            <a:srgbClr val="EEF4FA"/>
          </a:solidFill>
          <a:ln w="9525">
            <a:solidFill>
              <a:srgbClr val="C7D2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65776" y="2788920"/>
            <a:ext cx="2029968" cy="914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57216" y="2953512"/>
            <a:ext cx="1847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AI-001 → AI-007 + Arch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157216" y="3566160"/>
            <a:ext cx="18470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+ multi-model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24344" y="2788920"/>
            <a:ext cx="2029968" cy="1554480"/>
          </a:xfrm>
          <a:prstGeom prst="rect">
            <a:avLst/>
          </a:prstGeom>
          <a:solidFill>
            <a:srgbClr val="EEF4FA"/>
          </a:solidFill>
          <a:ln w="9525">
            <a:solidFill>
              <a:srgbClr val="C7D2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24344" y="2788920"/>
            <a:ext cx="2029968" cy="914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15784" y="2953512"/>
            <a:ext cx="1847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NA-001 → NA-002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415784" y="3566160"/>
            <a:ext cx="18470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alerts (email/SMS/in-app)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582912" y="2788920"/>
            <a:ext cx="2029968" cy="1554480"/>
          </a:xfrm>
          <a:prstGeom prst="rect">
            <a:avLst/>
          </a:prstGeom>
          <a:solidFill>
            <a:srgbClr val="EEF4FA"/>
          </a:solidFill>
          <a:ln w="9525">
            <a:solidFill>
              <a:srgbClr val="C7D2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582912" y="2788920"/>
            <a:ext cx="2029968" cy="914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74352" y="2953512"/>
            <a:ext cx="1847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LN-001 → LN-002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674352" y="3566160"/>
            <a:ext cx="18470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+ RTL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4572000"/>
            <a:ext cx="2029968" cy="1554480"/>
          </a:xfrm>
          <a:prstGeom prst="rect">
            <a:avLst/>
          </a:prstGeom>
          <a:solidFill>
            <a:srgbClr val="EEF4FA"/>
          </a:solidFill>
          <a:ln w="9525">
            <a:solidFill>
              <a:srgbClr val="C7D2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4572000"/>
            <a:ext cx="2029968" cy="914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4736592"/>
            <a:ext cx="1847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EW-001 → ESC-003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40080" y="5349240"/>
            <a:ext cx="18470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EWRS + Escrow Monitoring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807208" y="4572000"/>
            <a:ext cx="2029968" cy="1554480"/>
          </a:xfrm>
          <a:prstGeom prst="rect">
            <a:avLst/>
          </a:prstGeom>
          <a:solidFill>
            <a:srgbClr val="EEF4FA"/>
          </a:solidFill>
          <a:ln w="9525">
            <a:solidFill>
              <a:srgbClr val="C7D2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807208" y="4572000"/>
            <a:ext cx="2029968" cy="914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898648" y="4736592"/>
            <a:ext cx="1847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DR-001 → DR-002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2898648" y="5349240"/>
            <a:ext cx="18470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Performance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065776" y="4572000"/>
            <a:ext cx="2029968" cy="1554480"/>
          </a:xfrm>
          <a:prstGeom prst="rect">
            <a:avLst/>
          </a:prstGeom>
          <a:solidFill>
            <a:srgbClr val="EEF4FA"/>
          </a:solidFill>
          <a:ln w="9525">
            <a:solidFill>
              <a:srgbClr val="C7D2E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065776" y="4572000"/>
            <a:ext cx="2029968" cy="914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57216" y="4736592"/>
            <a:ext cx="1847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 Perf / ISR / Sec / RBAC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157216" y="5349240"/>
            <a:ext cx="18470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324344" y="4572000"/>
            <a:ext cx="2029968" cy="1554480"/>
          </a:xfrm>
          <a:prstGeom prst="rect">
            <a:avLst/>
          </a:prstGeom>
          <a:solidFill>
            <a:srgbClr val="EEF4FA"/>
          </a:solidFill>
          <a:ln w="9525">
            <a:solidFill>
              <a:srgbClr val="C7D2E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324344" y="4572000"/>
            <a:ext cx="2029968" cy="914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415784" y="4736592"/>
            <a:ext cx="1847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TH-001 → TH-004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415784" y="5349240"/>
            <a:ext cx="18470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&amp; Microsoft Fabric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9582912" y="4572000"/>
            <a:ext cx="2029968" cy="1554480"/>
          </a:xfrm>
          <a:prstGeom prst="rect">
            <a:avLst/>
          </a:prstGeom>
          <a:solidFill>
            <a:srgbClr val="EEF4FA"/>
          </a:solidFill>
          <a:ln w="9525">
            <a:solidFill>
              <a:srgbClr val="C7D2E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582912" y="4572000"/>
            <a:ext cx="2029968" cy="914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674352" y="4736592"/>
            <a:ext cx="1847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/ PD / WS / AC / DG / AF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9674352" y="5349240"/>
            <a:ext cx="18470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Data, phases, support, accept., PDPL, extras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0" y="6446520"/>
            <a:ext cx="12161520" cy="36576"/>
          </a:xfrm>
          <a:prstGeom prst="rect">
            <a:avLst/>
          </a:prstGeom>
          <a:solidFill>
            <a:srgbClr val="C7D2E0"/>
          </a:solidFill>
          <a:ln w="12700">
            <a:solidFill>
              <a:srgbClr val="C7D2E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48640" y="649224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IRETP — Technical Compliance (RFP v1.2)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10515600" y="64922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IRETP — Integrated Real Estate Transparency Platform  |  RFP DLD-IRETP-2026-001 v1.2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37160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7772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FR-001 → 008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1430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Portal — CMS, Homepage, Transactions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109728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240280"/>
            <a:ext cx="640080" cy="5029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24028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Req. ID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188720" y="2240280"/>
            <a:ext cx="914400" cy="5029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80160" y="224028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RFP §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103120" y="2240280"/>
            <a:ext cx="3657600" cy="5029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94560" y="22402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760720" y="2240280"/>
            <a:ext cx="5852160" cy="5029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2160" y="224028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IRETP Handles It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2743200"/>
            <a:ext cx="6400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2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2779776"/>
            <a:ext cx="4937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FR-001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188720" y="2743200"/>
            <a:ext cx="914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2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61872" y="2779776"/>
            <a:ext cx="7680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§3.1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103120" y="2743200"/>
            <a:ext cx="3657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2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76272" y="2779776"/>
            <a:ext cx="35112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Headless CMS — non-technical editing (RBAC, EN+AR/RTL, 5 content types).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760720" y="2743200"/>
            <a:ext cx="5852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2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33872" y="2779776"/>
            <a:ext cx="570585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CmsContent + CmsContentVersion entities; Application/Features/CMS Update/Preview/Publish/Rollback commands; Cms.razor admin page.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8640" y="3246120"/>
            <a:ext cx="640080" cy="502920"/>
          </a:xfrm>
          <a:prstGeom prst="rect">
            <a:avLst/>
          </a:prstGeom>
          <a:solidFill>
            <a:srgbClr val="EEF4FA"/>
          </a:solidFill>
          <a:ln w="6350">
            <a:solidFill>
              <a:srgbClr val="C7D2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" y="3282696"/>
            <a:ext cx="4937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FR-002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188720" y="3246120"/>
            <a:ext cx="914400" cy="502920"/>
          </a:xfrm>
          <a:prstGeom prst="rect">
            <a:avLst/>
          </a:prstGeom>
          <a:solidFill>
            <a:srgbClr val="EEF4FA"/>
          </a:solidFill>
          <a:ln w="6350">
            <a:solidFill>
              <a:srgbClr val="C7D2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61872" y="3282696"/>
            <a:ext cx="7680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§3.1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103120" y="3246120"/>
            <a:ext cx="3657600" cy="502920"/>
          </a:xfrm>
          <a:prstGeom prst="rect">
            <a:avLst/>
          </a:prstGeom>
          <a:solidFill>
            <a:srgbClr val="EEF4FA"/>
          </a:solidFill>
          <a:ln w="6350">
            <a:solidFill>
              <a:srgbClr val="C7D2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176272" y="3282696"/>
            <a:ext cx="35112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→ preview → production with 12-month version history &amp; 2-click rollback.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760720" y="3246120"/>
            <a:ext cx="5852160" cy="502920"/>
          </a:xfrm>
          <a:prstGeom prst="rect">
            <a:avLst/>
          </a:prstGeom>
          <a:solidFill>
            <a:srgbClr val="EEF4FA"/>
          </a:solidFill>
          <a:ln w="6350">
            <a:solidFill>
              <a:srgbClr val="C7D2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33872" y="3282696"/>
            <a:ext cx="570585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CreatePreviewLinkCommand (signed URL) + PublishCmsContentCommand + RollbackCmsContentCommand atomic over CmsContentVersion.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48640" y="3749040"/>
            <a:ext cx="6400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2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792" y="3785616"/>
            <a:ext cx="4937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FR-003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188720" y="3749040"/>
            <a:ext cx="914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2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261872" y="3785616"/>
            <a:ext cx="7680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§3.2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103120" y="3749040"/>
            <a:ext cx="3657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2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76272" y="3785616"/>
            <a:ext cx="35112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KPI cards refreshed every 15 minutes (≤15 min lag).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760720" y="3749040"/>
            <a:ext cx="5852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2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33872" y="3785616"/>
            <a:ext cx="570585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DashboardController + GetDashboardKpisQuery; KpiSnapshotCache + KpiSnapshotRefreshService (Hangfire */15).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48640" y="4251960"/>
            <a:ext cx="640080" cy="502920"/>
          </a:xfrm>
          <a:prstGeom prst="rect">
            <a:avLst/>
          </a:prstGeom>
          <a:solidFill>
            <a:srgbClr val="EEF4FA"/>
          </a:solidFill>
          <a:ln w="6350">
            <a:solidFill>
              <a:srgbClr val="C7D2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1792" y="4288536"/>
            <a:ext cx="4937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FR-004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1188720" y="4251960"/>
            <a:ext cx="914400" cy="502920"/>
          </a:xfrm>
          <a:prstGeom prst="rect">
            <a:avLst/>
          </a:prstGeom>
          <a:solidFill>
            <a:srgbClr val="EEF4FA"/>
          </a:solidFill>
          <a:ln w="6350">
            <a:solidFill>
              <a:srgbClr val="C7D2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261872" y="4288536"/>
            <a:ext cx="7680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§3.2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103120" y="4251960"/>
            <a:ext cx="3657600" cy="502920"/>
          </a:xfrm>
          <a:prstGeom prst="rect">
            <a:avLst/>
          </a:prstGeom>
          <a:solidFill>
            <a:srgbClr val="EEF4FA"/>
          </a:solidFill>
          <a:ln w="6350">
            <a:solidFill>
              <a:srgbClr val="C7D2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176272" y="4288536"/>
            <a:ext cx="35112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interactive market charts with hover/zoom/pan and period filters.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760720" y="4251960"/>
            <a:ext cx="5852160" cy="502920"/>
          </a:xfrm>
          <a:prstGeom prst="rect">
            <a:avLst/>
          </a:prstGeom>
          <a:solidFill>
            <a:srgbClr val="EEF4FA"/>
          </a:solidFill>
          <a:ln w="6350">
            <a:solidFill>
              <a:srgbClr val="C7D2E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833872" y="4288536"/>
            <a:ext cx="570585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Dashboard.razor renders volume / type / top-zones / price-per-sqft charts bound to GetDashboardKpisQuery.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48640" y="4754880"/>
            <a:ext cx="6400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2E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1792" y="4791456"/>
            <a:ext cx="4937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FR-005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1188720" y="4754880"/>
            <a:ext cx="914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2E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261872" y="4791456"/>
            <a:ext cx="7680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§3.2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2103120" y="4754880"/>
            <a:ext cx="3657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2E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176272" y="4791456"/>
            <a:ext cx="35112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+ currency switcher (AED/USD/EUR/GBP/CNY/RUB).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760720" y="4754880"/>
            <a:ext cx="5852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2E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833872" y="4791456"/>
            <a:ext cx="570585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UiStateService.SetLanguage / SetCurrency; CurrencyService cached daily by CurrencyRatesRefreshService (UAECB).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548640" y="5257800"/>
            <a:ext cx="640080" cy="502920"/>
          </a:xfrm>
          <a:prstGeom prst="rect">
            <a:avLst/>
          </a:prstGeom>
          <a:solidFill>
            <a:srgbClr val="EEF4FA"/>
          </a:solidFill>
          <a:ln w="6350">
            <a:solidFill>
              <a:srgbClr val="C7D2E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21792" y="5294376"/>
            <a:ext cx="4937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FR-006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1188720" y="5257800"/>
            <a:ext cx="914400" cy="502920"/>
          </a:xfrm>
          <a:prstGeom prst="rect">
            <a:avLst/>
          </a:prstGeom>
          <a:solidFill>
            <a:srgbClr val="EEF4FA"/>
          </a:solidFill>
          <a:ln w="6350">
            <a:solidFill>
              <a:srgbClr val="C7D2E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261872" y="5294376"/>
            <a:ext cx="7680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§3.3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2103120" y="5257800"/>
            <a:ext cx="3657600" cy="502920"/>
          </a:xfrm>
          <a:prstGeom prst="rect">
            <a:avLst/>
          </a:prstGeom>
          <a:solidFill>
            <a:srgbClr val="EEF4FA"/>
          </a:solidFill>
          <a:ln w="6350">
            <a:solidFill>
              <a:srgbClr val="C7D2E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176272" y="5294376"/>
            <a:ext cx="35112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transaction registry — 5-year history, ≤3 s for 10k rows.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5760720" y="5257800"/>
            <a:ext cx="5852160" cy="502920"/>
          </a:xfrm>
          <a:prstGeom prst="rect">
            <a:avLst/>
          </a:prstGeom>
          <a:solidFill>
            <a:srgbClr val="EEF4FA"/>
          </a:solidFill>
          <a:ln w="6350">
            <a:solidFill>
              <a:srgbClr val="C7D2E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833872" y="5294376"/>
            <a:ext cx="570585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GetTransactionsQuery / Handler over Transaction entity; OpenDataController + Transactions.razor share the same paged DTO.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548640" y="5760720"/>
            <a:ext cx="6400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2E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21792" y="5797296"/>
            <a:ext cx="4937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FR-007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1188720" y="5760720"/>
            <a:ext cx="914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2E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261872" y="5797296"/>
            <a:ext cx="7680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§3.3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2103120" y="5760720"/>
            <a:ext cx="3657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2E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176272" y="5797296"/>
            <a:ext cx="35112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Multi-dim filters with URL persistence.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5760720" y="5760720"/>
            <a:ext cx="5852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2E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833872" y="5797296"/>
            <a:ext cx="570585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Zone, type, range, area, finance filters in GetTransactionsQuery; Transactions.razor binds filters to query string.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548640" y="6263640"/>
            <a:ext cx="640080" cy="502920"/>
          </a:xfrm>
          <a:prstGeom prst="rect">
            <a:avLst/>
          </a:prstGeom>
          <a:solidFill>
            <a:srgbClr val="EEF4FA"/>
          </a:solidFill>
          <a:ln w="6350">
            <a:solidFill>
              <a:srgbClr val="C7D2E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21792" y="6300216"/>
            <a:ext cx="4937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FR-008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1188720" y="6263640"/>
            <a:ext cx="914400" cy="502920"/>
          </a:xfrm>
          <a:prstGeom prst="rect">
            <a:avLst/>
          </a:prstGeom>
          <a:solidFill>
            <a:srgbClr val="EEF4FA"/>
          </a:solidFill>
          <a:ln w="6350">
            <a:solidFill>
              <a:srgbClr val="C7D2E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261872" y="6300216"/>
            <a:ext cx="7680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§3.3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2103120" y="6263640"/>
            <a:ext cx="3657600" cy="502920"/>
          </a:xfrm>
          <a:prstGeom prst="rect">
            <a:avLst/>
          </a:prstGeom>
          <a:solidFill>
            <a:srgbClr val="EEF4FA"/>
          </a:solidFill>
          <a:ln w="6350">
            <a:solidFill>
              <a:srgbClr val="C7D2E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176272" y="6300216"/>
            <a:ext cx="35112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to Excel/CSV/PDF (≤50k rows, ≤10 s).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5760720" y="6263640"/>
            <a:ext cx="5852160" cy="502920"/>
          </a:xfrm>
          <a:prstGeom prst="rect">
            <a:avLst/>
          </a:prstGeom>
          <a:solidFill>
            <a:srgbClr val="EEF4FA"/>
          </a:solidFill>
          <a:ln w="6350">
            <a:solidFill>
              <a:srgbClr val="C7D2E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833872" y="6300216"/>
            <a:ext cx="570585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ExportTransactionsCommand — ClosedXML for xlsx with metadata sheet, QuestPDF for branded PDF, native CSV writer.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0" y="6446520"/>
            <a:ext cx="12161520" cy="36576"/>
          </a:xfrm>
          <a:prstGeom prst="rect">
            <a:avLst/>
          </a:prstGeom>
          <a:solidFill>
            <a:srgbClr val="C7D2E0"/>
          </a:solidFill>
          <a:ln w="12700">
            <a:solidFill>
              <a:srgbClr val="C7D2E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48640" y="649224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IRETP — Technical Compliance (RFP v1.2)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10515600" y="64922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IRETP — Integrated Real Estate Transparency Platform  |  RFP DLD-IRETP-2026-001 v1.2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37160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7772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FR-009 → AN-006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1430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 Map, Indices &amp; Slice-and-Dice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109728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240280"/>
            <a:ext cx="640080" cy="5029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24028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Req. ID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188720" y="2240280"/>
            <a:ext cx="914400" cy="5029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80160" y="224028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RFP §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103120" y="2240280"/>
            <a:ext cx="3657600" cy="5029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94560" y="22402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760720" y="2240280"/>
            <a:ext cx="5852160" cy="5029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2160" y="224028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IRETP Handles It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2743200"/>
            <a:ext cx="6400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2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2779776"/>
            <a:ext cx="4937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FR-009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188720" y="2743200"/>
            <a:ext cx="914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2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61872" y="2779776"/>
            <a:ext cx="7680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§3.4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103120" y="2743200"/>
            <a:ext cx="3657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2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76272" y="2779776"/>
            <a:ext cx="35112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 map — three switchable heatmap layers.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760720" y="2743200"/>
            <a:ext cx="5852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2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33872" y="2779776"/>
            <a:ext cx="570585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Map.razor + GetZoneHeatmapQuery (activity / price / yield); pin layer via GetProjectsMapQuery.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8640" y="3246120"/>
            <a:ext cx="640080" cy="502920"/>
          </a:xfrm>
          <a:prstGeom prst="rect">
            <a:avLst/>
          </a:prstGeom>
          <a:solidFill>
            <a:srgbClr val="EEF4FA"/>
          </a:solidFill>
          <a:ln w="6350">
            <a:solidFill>
              <a:srgbClr val="C7D2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" y="3282696"/>
            <a:ext cx="4937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FR-010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188720" y="3246120"/>
            <a:ext cx="914400" cy="502920"/>
          </a:xfrm>
          <a:prstGeom prst="rect">
            <a:avLst/>
          </a:prstGeom>
          <a:solidFill>
            <a:srgbClr val="EEF4FA"/>
          </a:solidFill>
          <a:ln w="6350">
            <a:solidFill>
              <a:srgbClr val="C7D2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61872" y="3282696"/>
            <a:ext cx="7680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§3.4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103120" y="3246120"/>
            <a:ext cx="3657600" cy="502920"/>
          </a:xfrm>
          <a:prstGeom prst="rect">
            <a:avLst/>
          </a:prstGeom>
          <a:solidFill>
            <a:srgbClr val="EEF4FA"/>
          </a:solidFill>
          <a:ln w="6350">
            <a:solidFill>
              <a:srgbClr val="C7D2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176272" y="3282696"/>
            <a:ext cx="35112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detail panel with KPIs + top developers.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760720" y="3246120"/>
            <a:ext cx="5852160" cy="502920"/>
          </a:xfrm>
          <a:prstGeom prst="rect">
            <a:avLst/>
          </a:prstGeom>
          <a:solidFill>
            <a:srgbClr val="EEF4FA"/>
          </a:solidFill>
          <a:ln w="6350">
            <a:solidFill>
              <a:srgbClr val="C7D2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33872" y="3282696"/>
            <a:ext cx="570585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GetZoneDetailQuery + ZoneDetailDto; deep-link to filtered Projects page.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48640" y="3749040"/>
            <a:ext cx="6400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2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792" y="3785616"/>
            <a:ext cx="4937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FR-011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188720" y="3749040"/>
            <a:ext cx="914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2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261872" y="3785616"/>
            <a:ext cx="7680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§3.4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103120" y="3749040"/>
            <a:ext cx="3657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2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76272" y="3785616"/>
            <a:ext cx="35112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pins with status colour-coding &amp; clustering.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760720" y="3749040"/>
            <a:ext cx="5852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2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33872" y="3785616"/>
            <a:ext cx="570585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GetProjectsMapQuery keyed by ProjectStatus enum; cluster tier rendering.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48640" y="4251960"/>
            <a:ext cx="640080" cy="502920"/>
          </a:xfrm>
          <a:prstGeom prst="rect">
            <a:avLst/>
          </a:prstGeom>
          <a:solidFill>
            <a:srgbClr val="EEF4FA"/>
          </a:solidFill>
          <a:ln w="6350">
            <a:solidFill>
              <a:srgbClr val="C7D2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1792" y="4288536"/>
            <a:ext cx="4937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FR-012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1188720" y="4251960"/>
            <a:ext cx="914400" cy="502920"/>
          </a:xfrm>
          <a:prstGeom prst="rect">
            <a:avLst/>
          </a:prstGeom>
          <a:solidFill>
            <a:srgbClr val="EEF4FA"/>
          </a:solidFill>
          <a:ln w="6350">
            <a:solidFill>
              <a:srgbClr val="C7D2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261872" y="4288536"/>
            <a:ext cx="7680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§3.4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103120" y="4251960"/>
            <a:ext cx="3657600" cy="502920"/>
          </a:xfrm>
          <a:prstGeom prst="rect">
            <a:avLst/>
          </a:prstGeom>
          <a:solidFill>
            <a:srgbClr val="EEF4FA"/>
          </a:solidFill>
          <a:ln w="6350">
            <a:solidFill>
              <a:srgbClr val="C7D2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176272" y="4288536"/>
            <a:ext cx="35112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detail panel — developer link, units, delivery date.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760720" y="4251960"/>
            <a:ext cx="5852160" cy="502920"/>
          </a:xfrm>
          <a:prstGeom prst="rect">
            <a:avLst/>
          </a:prstGeom>
          <a:solidFill>
            <a:srgbClr val="EEF4FA"/>
          </a:solidFill>
          <a:ln w="6350">
            <a:solidFill>
              <a:srgbClr val="C7D2E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833872" y="4288536"/>
            <a:ext cx="570585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GetProjectDetailQuery + ProjectDetailDto sourcing Project / ProjectUnit / Developer; NameValidation gates Arabic name.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48640" y="4754880"/>
            <a:ext cx="6400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2E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1792" y="4791456"/>
            <a:ext cx="4937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FR-013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1188720" y="4754880"/>
            <a:ext cx="914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2E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261872" y="4791456"/>
            <a:ext cx="7680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§3.5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2103120" y="4754880"/>
            <a:ext cx="3657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2E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176272" y="4791456"/>
            <a:ext cx="35112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Price-per-sqft index, 10-yr trend, 5-zone overlay.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760720" y="4754880"/>
            <a:ext cx="5852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2E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833872" y="4791456"/>
            <a:ext cx="570585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GetPriceIndexQuery + GetPriceIndexComparisonQuery; PriceIndex.razor.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548640" y="5257800"/>
            <a:ext cx="640080" cy="502920"/>
          </a:xfrm>
          <a:prstGeom prst="rect">
            <a:avLst/>
          </a:prstGeom>
          <a:solidFill>
            <a:srgbClr val="EEF4FA"/>
          </a:solidFill>
          <a:ln w="6350">
            <a:solidFill>
              <a:srgbClr val="C7D2E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21792" y="5294376"/>
            <a:ext cx="4937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FR-014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1188720" y="5257800"/>
            <a:ext cx="914400" cy="502920"/>
          </a:xfrm>
          <a:prstGeom prst="rect">
            <a:avLst/>
          </a:prstGeom>
          <a:solidFill>
            <a:srgbClr val="EEF4FA"/>
          </a:solidFill>
          <a:ln w="6350">
            <a:solidFill>
              <a:srgbClr val="C7D2E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261872" y="5294376"/>
            <a:ext cx="7680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§3.5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2103120" y="5257800"/>
            <a:ext cx="3657600" cy="502920"/>
          </a:xfrm>
          <a:prstGeom prst="rect">
            <a:avLst/>
          </a:prstGeom>
          <a:solidFill>
            <a:srgbClr val="EEF4FA"/>
          </a:solidFill>
          <a:ln w="6350">
            <a:solidFill>
              <a:srgbClr val="C7D2E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176272" y="5294376"/>
            <a:ext cx="35112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Rental index + yield calculator (residential/commercial, ST/LT).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5760720" y="5257800"/>
            <a:ext cx="5852160" cy="502920"/>
          </a:xfrm>
          <a:prstGeom prst="rect">
            <a:avLst/>
          </a:prstGeom>
          <a:solidFill>
            <a:srgbClr val="EEF4FA"/>
          </a:solidFill>
          <a:ln w="6350">
            <a:solidFill>
              <a:srgbClr val="C7D2E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833872" y="5294376"/>
            <a:ext cx="570585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GetRentalIndexQuery + GetRentalYieldCalculatorQuery; RentalIndex.razor.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548640" y="5760720"/>
            <a:ext cx="6400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2E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21792" y="5797296"/>
            <a:ext cx="4937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AN-001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1188720" y="5760720"/>
            <a:ext cx="914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2E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261872" y="5797296"/>
            <a:ext cx="7680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2103120" y="5760720"/>
            <a:ext cx="3657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2E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176272" y="5797296"/>
            <a:ext cx="35112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 + metric selection (4×3, ≤3 s render).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5760720" y="5760720"/>
            <a:ext cx="5852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2E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833872" y="5797296"/>
            <a:ext cx="570585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AnalyticsController + ExecuteAnalyticsQuery; Analytics.razor wizard.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548640" y="6263640"/>
            <a:ext cx="640080" cy="502920"/>
          </a:xfrm>
          <a:prstGeom prst="rect">
            <a:avLst/>
          </a:prstGeom>
          <a:solidFill>
            <a:srgbClr val="EEF4FA"/>
          </a:solidFill>
          <a:ln w="6350">
            <a:solidFill>
              <a:srgbClr val="C7D2E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21792" y="6300216"/>
            <a:ext cx="4937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AN-002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1188720" y="6263640"/>
            <a:ext cx="914400" cy="502920"/>
          </a:xfrm>
          <a:prstGeom prst="rect">
            <a:avLst/>
          </a:prstGeom>
          <a:solidFill>
            <a:srgbClr val="EEF4FA"/>
          </a:solidFill>
          <a:ln w="6350">
            <a:solidFill>
              <a:srgbClr val="C7D2E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261872" y="6300216"/>
            <a:ext cx="7680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2103120" y="6263640"/>
            <a:ext cx="3657600" cy="502920"/>
          </a:xfrm>
          <a:prstGeom prst="rect">
            <a:avLst/>
          </a:prstGeom>
          <a:solidFill>
            <a:srgbClr val="EEF4FA"/>
          </a:solidFill>
          <a:ln w="6350">
            <a:solidFill>
              <a:srgbClr val="C7D2E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176272" y="6300216"/>
            <a:ext cx="35112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visualization types + system recommendation.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5760720" y="6263640"/>
            <a:ext cx="5852160" cy="502920"/>
          </a:xfrm>
          <a:prstGeom prst="rect">
            <a:avLst/>
          </a:prstGeom>
          <a:solidFill>
            <a:srgbClr val="EEF4FA"/>
          </a:solidFill>
          <a:ln w="6350">
            <a:solidFill>
              <a:srgbClr val="C7D2E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833872" y="6300216"/>
            <a:ext cx="570585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/ Stacked / Line / Area / Scatter / Donut / Treemap / Table / KPI; recommendation in handler.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548640" y="6766560"/>
            <a:ext cx="6400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2E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21792" y="6803136"/>
            <a:ext cx="4937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AN-003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1188720" y="6766560"/>
            <a:ext cx="914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2E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1261872" y="6803136"/>
            <a:ext cx="7680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2103120" y="6766560"/>
            <a:ext cx="3657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2E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2176272" y="6803136"/>
            <a:ext cx="35112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views + 12-tile dashboard + share link.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5760720" y="6766560"/>
            <a:ext cx="5852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2E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833872" y="6803136"/>
            <a:ext cx="570585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SavedAnalyticsView entity; SaveAnalyticsViewCommand; share token with HMAC + expiry.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548640" y="7269480"/>
            <a:ext cx="640080" cy="502920"/>
          </a:xfrm>
          <a:prstGeom prst="rect">
            <a:avLst/>
          </a:prstGeom>
          <a:solidFill>
            <a:srgbClr val="EEF4FA"/>
          </a:solidFill>
          <a:ln w="6350">
            <a:solidFill>
              <a:srgbClr val="C7D2E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21792" y="7306056"/>
            <a:ext cx="4937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AN-004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1188720" y="7269480"/>
            <a:ext cx="914400" cy="502920"/>
          </a:xfrm>
          <a:prstGeom prst="rect">
            <a:avLst/>
          </a:prstGeom>
          <a:solidFill>
            <a:srgbClr val="EEF4FA"/>
          </a:solidFill>
          <a:ln w="6350">
            <a:solidFill>
              <a:srgbClr val="C7D2E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1261872" y="7306056"/>
            <a:ext cx="7680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2103120" y="7269480"/>
            <a:ext cx="3657600" cy="502920"/>
          </a:xfrm>
          <a:prstGeom prst="rect">
            <a:avLst/>
          </a:prstGeom>
          <a:solidFill>
            <a:srgbClr val="EEF4FA"/>
          </a:solidFill>
          <a:ln w="6350">
            <a:solidFill>
              <a:srgbClr val="C7D2E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2176272" y="7306056"/>
            <a:ext cx="35112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export (xlsx, csv, pdf, json).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5760720" y="7269480"/>
            <a:ext cx="5852160" cy="502920"/>
          </a:xfrm>
          <a:prstGeom prst="rect">
            <a:avLst/>
          </a:prstGeom>
          <a:solidFill>
            <a:srgbClr val="EEF4FA"/>
          </a:solidFill>
          <a:ln w="6350">
            <a:solidFill>
              <a:srgbClr val="C7D2E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5833872" y="7306056"/>
            <a:ext cx="570585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ExportAnalyticsCommand emits all four formats with branded PDF letterhead + filter metadata.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548640" y="7772400"/>
            <a:ext cx="6400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2E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621792" y="7808976"/>
            <a:ext cx="4937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AN-005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1188720" y="7772400"/>
            <a:ext cx="914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2E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1261872" y="7808976"/>
            <a:ext cx="7680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2103120" y="7772400"/>
            <a:ext cx="3657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2E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2176272" y="7808976"/>
            <a:ext cx="35112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Comparison (5 zones).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5760720" y="7772400"/>
            <a:ext cx="5852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2E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5833872" y="7808976"/>
            <a:ext cx="570585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GetZoneComparisonQuery; ZoneCompare.razor side-by-side bars + overlaid lines + sortable table.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548640" y="8275320"/>
            <a:ext cx="640080" cy="502920"/>
          </a:xfrm>
          <a:prstGeom prst="rect">
            <a:avLst/>
          </a:prstGeom>
          <a:solidFill>
            <a:srgbClr val="EEF4FA"/>
          </a:solidFill>
          <a:ln w="6350">
            <a:solidFill>
              <a:srgbClr val="C7D2E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621792" y="8311896"/>
            <a:ext cx="4937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AN-006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1188720" y="8275320"/>
            <a:ext cx="914400" cy="502920"/>
          </a:xfrm>
          <a:prstGeom prst="rect">
            <a:avLst/>
          </a:prstGeom>
          <a:solidFill>
            <a:srgbClr val="EEF4FA"/>
          </a:solidFill>
          <a:ln w="6350">
            <a:solidFill>
              <a:srgbClr val="C7D2E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1261872" y="8311896"/>
            <a:ext cx="7680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</a:t>
            </a:r>
            <a:endParaRPr lang="en-US" sz="900" dirty="0"/>
          </a:p>
        </p:txBody>
      </p:sp>
      <p:sp>
        <p:nvSpPr>
          <p:cNvPr id="108" name="Shape 106"/>
          <p:cNvSpPr/>
          <p:nvPr/>
        </p:nvSpPr>
        <p:spPr>
          <a:xfrm>
            <a:off x="2103120" y="8275320"/>
            <a:ext cx="3657600" cy="502920"/>
          </a:xfrm>
          <a:prstGeom prst="rect">
            <a:avLst/>
          </a:prstGeom>
          <a:solidFill>
            <a:srgbClr val="EEF4FA"/>
          </a:solidFill>
          <a:ln w="6350">
            <a:solidFill>
              <a:srgbClr val="C7D2E0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2176272" y="8311896"/>
            <a:ext cx="35112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Shareable analysis links ≥12 months.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5760720" y="8275320"/>
            <a:ext cx="5852160" cy="502920"/>
          </a:xfrm>
          <a:prstGeom prst="rect">
            <a:avLst/>
          </a:prstGeom>
          <a:solidFill>
            <a:srgbClr val="EEF4FA"/>
          </a:solidFill>
          <a:ln w="6350">
            <a:solidFill>
              <a:srgbClr val="C7D2E0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5833872" y="8311896"/>
            <a:ext cx="570585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token (HMAC) + ShareTokenExpiresAt; GetSharedViewQuery restores full state.</a:t>
            </a:r>
            <a:endParaRPr lang="en-US" sz="900" dirty="0"/>
          </a:p>
        </p:txBody>
      </p:sp>
      <p:sp>
        <p:nvSpPr>
          <p:cNvPr id="112" name="Shape 110"/>
          <p:cNvSpPr/>
          <p:nvPr/>
        </p:nvSpPr>
        <p:spPr>
          <a:xfrm>
            <a:off x="0" y="6446520"/>
            <a:ext cx="12161520" cy="36576"/>
          </a:xfrm>
          <a:prstGeom prst="rect">
            <a:avLst/>
          </a:prstGeom>
          <a:solidFill>
            <a:srgbClr val="C7D2E0"/>
          </a:solidFill>
          <a:ln w="12700">
            <a:solidFill>
              <a:srgbClr val="C7D2E0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548640" y="649224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IRETP — Technical Compliance (RFP v1.2)</a:t>
            </a:r>
            <a:endParaRPr lang="en-US" sz="1000" dirty="0"/>
          </a:p>
        </p:txBody>
      </p:sp>
      <p:sp>
        <p:nvSpPr>
          <p:cNvPr id="114" name="Text 112"/>
          <p:cNvSpPr/>
          <p:nvPr/>
        </p:nvSpPr>
        <p:spPr>
          <a:xfrm>
            <a:off x="10515600" y="64922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IRETP — Integrated Real Estate Transparency Platform  |  RFP DLD-IRETP-2026-001 v1.2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37160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7772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RFP §5.3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1430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— Multi-Model Architecture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109728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240280"/>
            <a:ext cx="59436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AIOrchestrator routes by tier: nav, analytics, primary, secondary fallback.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model swap via /api/admin/ai-models — no redeploy.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RAG: indexes Transactions, Zones, Projects, Developers, CmsContent.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guardrail blocks investment-advice patterns before user-visible output.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AIModelMetrics records latency + active flag + Region (UAE) per model.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/healthz/sla returns Degraded if non-UAE inference is detected.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AiAccuracyHarness runs the 100-question DLD test set nightly.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132320" y="2240280"/>
            <a:ext cx="4480560" cy="4023360"/>
          </a:xfrm>
          <a:prstGeom prst="rect">
            <a:avLst/>
          </a:prstGeom>
          <a:solidFill>
            <a:srgbClr val="EEF4FA"/>
          </a:solidFill>
          <a:ln w="9525">
            <a:solidFill>
              <a:srgbClr val="C7D2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06640" y="2514600"/>
            <a:ext cx="3931920" cy="5486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06640" y="2514600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AIOrchestrator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406640" y="2816352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 +  Guardrail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7406640" y="3291840"/>
            <a:ext cx="1783080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06640" y="3291840"/>
            <a:ext cx="1783080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tier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406640" y="3568446"/>
            <a:ext cx="1783080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navigation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9555480" y="3291840"/>
            <a:ext cx="1783080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55480" y="3291840"/>
            <a:ext cx="1783080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tier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555480" y="3568446"/>
            <a:ext cx="1783080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 + anomalies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7406640" y="4023360"/>
            <a:ext cx="1783080" cy="50292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06640" y="4023360"/>
            <a:ext cx="1783080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model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406640" y="4299966"/>
            <a:ext cx="1783080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9555480" y="4023360"/>
            <a:ext cx="1783080" cy="50292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55480" y="4023360"/>
            <a:ext cx="1783080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model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555480" y="4299966"/>
            <a:ext cx="1783080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406640" y="4754880"/>
            <a:ext cx="3931920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06640" y="4754880"/>
            <a:ext cx="3931920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retrieval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406640" y="5031486"/>
            <a:ext cx="3931920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 / Zones / Projects / Devs / CMS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406640" y="5440680"/>
            <a:ext cx="393192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06640" y="5440680"/>
            <a:ext cx="3931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AIModelMetrics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406640" y="5692140"/>
            <a:ext cx="39319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 /  latency  /  active  /  Region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406640" y="59436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residency confirmed by AIModelMetrics.Region per call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0" y="6446520"/>
            <a:ext cx="12161520" cy="36576"/>
          </a:xfrm>
          <a:prstGeom prst="rect">
            <a:avLst/>
          </a:prstGeom>
          <a:solidFill>
            <a:srgbClr val="C7D2E0"/>
          </a:solidFill>
          <a:ln w="12700">
            <a:solidFill>
              <a:srgbClr val="C7D2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649224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IRETP — Technical Compliance (RFP v1.2)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0515600" y="64922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IRETP — Integrated Real Estate Transparency Platform  |  RFP DLD-IRETP-2026-001 v1.2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37160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7772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AI-001 → AI-007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1430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 AI Agent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109728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240280"/>
            <a:ext cx="640080" cy="5029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24028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Req. ID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188720" y="2240280"/>
            <a:ext cx="914400" cy="5029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80160" y="224028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RFP §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103120" y="2240280"/>
            <a:ext cx="3657600" cy="5029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94560" y="22402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760720" y="2240280"/>
            <a:ext cx="5852160" cy="5029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2160" y="224028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IRETP Handles It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2743200"/>
            <a:ext cx="6400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2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2779776"/>
            <a:ext cx="4937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AI-001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188720" y="2743200"/>
            <a:ext cx="914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2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61872" y="2779776"/>
            <a:ext cx="7680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§5.2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103120" y="2743200"/>
            <a:ext cx="3657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2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76272" y="2779776"/>
            <a:ext cx="35112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 queries EN+AR with mandatory citations; ≥90% accuracy.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760720" y="2743200"/>
            <a:ext cx="5852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2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33872" y="2779776"/>
            <a:ext cx="570585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AIAgentController → ProcessAIQueryCommand → AIOrchestrator (RAG); AiAccuracyHarness nightly.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8640" y="3246120"/>
            <a:ext cx="640080" cy="502920"/>
          </a:xfrm>
          <a:prstGeom prst="rect">
            <a:avLst/>
          </a:prstGeom>
          <a:solidFill>
            <a:srgbClr val="EEF4FA"/>
          </a:solidFill>
          <a:ln w="6350">
            <a:solidFill>
              <a:srgbClr val="C7D2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" y="3282696"/>
            <a:ext cx="4937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AI-002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188720" y="3246120"/>
            <a:ext cx="914400" cy="502920"/>
          </a:xfrm>
          <a:prstGeom prst="rect">
            <a:avLst/>
          </a:prstGeom>
          <a:solidFill>
            <a:srgbClr val="EEF4FA"/>
          </a:solidFill>
          <a:ln w="6350">
            <a:solidFill>
              <a:srgbClr val="C7D2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61872" y="3282696"/>
            <a:ext cx="7680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§5.2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103120" y="3246120"/>
            <a:ext cx="3657600" cy="502920"/>
          </a:xfrm>
          <a:prstGeom prst="rect">
            <a:avLst/>
          </a:prstGeom>
          <a:solidFill>
            <a:srgbClr val="EEF4FA"/>
          </a:solidFill>
          <a:ln w="6350">
            <a:solidFill>
              <a:srgbClr val="C7D2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176272" y="3282696"/>
            <a:ext cx="35112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In-chat dashboard generation (≤30 s).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760720" y="3246120"/>
            <a:ext cx="5852160" cy="502920"/>
          </a:xfrm>
          <a:prstGeom prst="rect">
            <a:avLst/>
          </a:prstGeom>
          <a:solidFill>
            <a:srgbClr val="EEF4FA"/>
          </a:solidFill>
          <a:ln w="6350">
            <a:solidFill>
              <a:srgbClr val="C7D2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33872" y="3282696"/>
            <a:ext cx="570585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tier emits chart payload via TimeSeriesAnalyzer; AiAgent.razor renders Chart.js.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48640" y="3749040"/>
            <a:ext cx="6400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2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792" y="3785616"/>
            <a:ext cx="4937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AI-003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188720" y="3749040"/>
            <a:ext cx="914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2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261872" y="3785616"/>
            <a:ext cx="7680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§5.2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103120" y="3749040"/>
            <a:ext cx="3657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2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76272" y="3785616"/>
            <a:ext cx="35112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In-chat downloads — PDF / xlsx / PNG / CSV.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760720" y="3749040"/>
            <a:ext cx="5852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2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33872" y="3785616"/>
            <a:ext cx="570585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InvestorScorecardPdfService (QuestPDF) + analytics export pipeline.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48640" y="4251960"/>
            <a:ext cx="640080" cy="502920"/>
          </a:xfrm>
          <a:prstGeom prst="rect">
            <a:avLst/>
          </a:prstGeom>
          <a:solidFill>
            <a:srgbClr val="EEF4FA"/>
          </a:solidFill>
          <a:ln w="6350">
            <a:solidFill>
              <a:srgbClr val="C7D2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1792" y="4288536"/>
            <a:ext cx="4937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AI-004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1188720" y="4251960"/>
            <a:ext cx="914400" cy="502920"/>
          </a:xfrm>
          <a:prstGeom prst="rect">
            <a:avLst/>
          </a:prstGeom>
          <a:solidFill>
            <a:srgbClr val="EEF4FA"/>
          </a:solidFill>
          <a:ln w="6350">
            <a:solidFill>
              <a:srgbClr val="C7D2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261872" y="4288536"/>
            <a:ext cx="7680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§5.2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103120" y="4251960"/>
            <a:ext cx="3657600" cy="502920"/>
          </a:xfrm>
          <a:prstGeom prst="rect">
            <a:avLst/>
          </a:prstGeom>
          <a:solidFill>
            <a:srgbClr val="EEF4FA"/>
          </a:solidFill>
          <a:ln w="6350">
            <a:solidFill>
              <a:srgbClr val="C7D2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176272" y="4288536"/>
            <a:ext cx="35112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analytics — correlation, anomaly, trend.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760720" y="4251960"/>
            <a:ext cx="5852160" cy="502920"/>
          </a:xfrm>
          <a:prstGeom prst="rect">
            <a:avLst/>
          </a:prstGeom>
          <a:solidFill>
            <a:srgbClr val="EEF4FA"/>
          </a:solidFill>
          <a:ln w="6350">
            <a:solidFill>
              <a:srgbClr val="C7D2E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833872" y="4288536"/>
            <a:ext cx="570585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TimeSeriesAnalyzer (z-score, trend, Pearson); trend labelled historical, never predictive.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48640" y="4754880"/>
            <a:ext cx="6400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2E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1792" y="4791456"/>
            <a:ext cx="4937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AI-005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1188720" y="4754880"/>
            <a:ext cx="914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2E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261872" y="4791456"/>
            <a:ext cx="7680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§5.2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2103120" y="4754880"/>
            <a:ext cx="3657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2E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176272" y="4791456"/>
            <a:ext cx="35112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DLD service navigation with step-by-step instructions.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760720" y="4754880"/>
            <a:ext cx="5852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2E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833872" y="4791456"/>
            <a:ext cx="570585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procedures stored as CmsContent under PageKey=service.*; nav tier routing.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548640" y="5257800"/>
            <a:ext cx="640080" cy="502920"/>
          </a:xfrm>
          <a:prstGeom prst="rect">
            <a:avLst/>
          </a:prstGeom>
          <a:solidFill>
            <a:srgbClr val="EEF4FA"/>
          </a:solidFill>
          <a:ln w="6350">
            <a:solidFill>
              <a:srgbClr val="C7D2E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21792" y="5294376"/>
            <a:ext cx="4937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AI-006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1188720" y="5257800"/>
            <a:ext cx="914400" cy="502920"/>
          </a:xfrm>
          <a:prstGeom prst="rect">
            <a:avLst/>
          </a:prstGeom>
          <a:solidFill>
            <a:srgbClr val="EEF4FA"/>
          </a:solidFill>
          <a:ln w="6350">
            <a:solidFill>
              <a:srgbClr val="C7D2E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261872" y="5294376"/>
            <a:ext cx="7680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§5.2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2103120" y="5257800"/>
            <a:ext cx="3657600" cy="502920"/>
          </a:xfrm>
          <a:prstGeom prst="rect">
            <a:avLst/>
          </a:prstGeom>
          <a:solidFill>
            <a:srgbClr val="EEF4FA"/>
          </a:solidFill>
          <a:ln w="6350">
            <a:solidFill>
              <a:srgbClr val="C7D2E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176272" y="5294376"/>
            <a:ext cx="35112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+ opt-in cross-session memory.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5760720" y="5257800"/>
            <a:ext cx="5852160" cy="502920"/>
          </a:xfrm>
          <a:prstGeom prst="rect">
            <a:avLst/>
          </a:prstGeom>
          <a:solidFill>
            <a:srgbClr val="EEF4FA"/>
          </a:solidFill>
          <a:ln w="6350">
            <a:solidFill>
              <a:srgbClr val="C7D2E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833872" y="5294376"/>
            <a:ext cx="570585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20-turn SessionMemory + UserAiMemory entity; gated by ConsentAiMemory; wiped on revocation.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548640" y="5760720"/>
            <a:ext cx="6400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2E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21792" y="5797296"/>
            <a:ext cx="4937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AI-007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1188720" y="5760720"/>
            <a:ext cx="914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2E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261872" y="5797296"/>
            <a:ext cx="7680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§5.2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2103120" y="5760720"/>
            <a:ext cx="3657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2E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176272" y="5797296"/>
            <a:ext cx="35112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EN/AR; Phase 4 zh/ru/ur/fr/hi/de.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5760720" y="5760720"/>
            <a:ext cx="5852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2E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833872" y="5797296"/>
            <a:ext cx="570585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ProcessAIQueryCommand carries Language; UiStateService.SupportedLanguages reserves all 8.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0" y="6446520"/>
            <a:ext cx="12161520" cy="36576"/>
          </a:xfrm>
          <a:prstGeom prst="rect">
            <a:avLst/>
          </a:prstGeom>
          <a:solidFill>
            <a:srgbClr val="C7D2E0"/>
          </a:solidFill>
          <a:ln w="12700">
            <a:solidFill>
              <a:srgbClr val="C7D2E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48640" y="649224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IRETP — Technical Compliance (RFP v1.2)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10515600" y="64922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IRETP — Integrated Real Estate Transparency Platform  |  RFP DLD-IRETP-2026-001 v1.2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37160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7772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RFP §6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1430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Notification &amp; Alert System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109728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240280"/>
            <a:ext cx="7040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alert types: price movement, project launch, watchlist status, rental yield, market digest, regulation update.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InvestorAlert entity + ConfigureInvestorAlertCommand + DeleteInvestorAlertCommand.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WatchlistItem entity + AddWatchlistItemCommand / RemoveWatchlistItemCommand.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InvestorAlertEvaluator (Hangfire hourly :07) emits all six types.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&lt;5 min, SMS &lt;3 min, in-platform instant — driven by AlertDeliveryService (Hangfire every 2 min).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Branded HTML templates in NotificationTemplates.cs; SmtpEmailSender + HttpSmsSender + SignalR.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63840" y="2240280"/>
            <a:ext cx="3749040" cy="3931920"/>
          </a:xfrm>
          <a:prstGeom prst="rect">
            <a:avLst/>
          </a:prstGeom>
          <a:solidFill>
            <a:srgbClr val="EEF4FA"/>
          </a:solidFill>
          <a:ln w="9525">
            <a:solidFill>
              <a:srgbClr val="C7D2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0" y="2240280"/>
            <a:ext cx="73152" cy="3931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92440" y="240487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SLA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92440" y="29260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092440" y="318211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 minutes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92440" y="359359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092440" y="384962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 minutes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092440" y="426110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In-platform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092440" y="451713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Instantaneous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092440" y="492861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092440" y="518464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AlertDeliveryService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6446520"/>
            <a:ext cx="12161520" cy="36576"/>
          </a:xfrm>
          <a:prstGeom prst="rect">
            <a:avLst/>
          </a:prstGeom>
          <a:solidFill>
            <a:srgbClr val="C7D2E0"/>
          </a:solidFill>
          <a:ln w="12700">
            <a:solidFill>
              <a:srgbClr val="C7D2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649224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IRETP — Technical Compliance (RFP v1.2)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515600" y="64922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IRETP — Integrated Real Estate Transparency Platform  |  RFP DLD-IRETP-2026-001 v1.2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37160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7772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RFP §8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1430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EWRS — Early Warning Risk System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109728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240280"/>
            <a:ext cx="7040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RiskEngineService implements all 10 indicators (delivery delay W/C, escrow shortfall W/C, construction halt 30/60, transaction decline, dev-score deterioration, high-risk concentration, price decline, severe regulatory violation).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Thresholds editable from admin panel via UpdateRiskThresholdCommand; every change writes AuditLog.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Four-level escalation routed by AlertEscalationService (Hangfire every 5 min).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Playbooks per alert type with mark-off checklists (UpdateAlertPlaybookProgressCommand).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overview heatmap + alert inbox in EwrsDashboard.razor + EwrsAlerts.razor.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63840" y="2240280"/>
            <a:ext cx="3749040" cy="3931920"/>
          </a:xfrm>
          <a:prstGeom prst="rect">
            <a:avLst/>
          </a:prstGeom>
          <a:solidFill>
            <a:srgbClr val="EEF4FA"/>
          </a:solidFill>
          <a:ln w="9525">
            <a:solidFill>
              <a:srgbClr val="C7D2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0" y="2240280"/>
            <a:ext cx="73152" cy="3931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92440" y="240487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tiers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92440" y="29260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Operational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092440" y="318211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DLD project officer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92440" y="359359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Managerial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092440" y="384962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+ Division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092440" y="426110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Senior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092440" y="451713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 + Deputies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092440" y="492861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 Strategic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092440" y="518464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 + Regulator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6446520"/>
            <a:ext cx="12161520" cy="36576"/>
          </a:xfrm>
          <a:prstGeom prst="rect">
            <a:avLst/>
          </a:prstGeom>
          <a:solidFill>
            <a:srgbClr val="C7D2E0"/>
          </a:solidFill>
          <a:ln w="12700">
            <a:solidFill>
              <a:srgbClr val="C7D2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649224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IRETP — Technical Compliance (RFP v1.2)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515600" y="64922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IRETP — Integrated Real Estate Transparency Platform  |  RFP DLD-IRETP-2026-001 v1.2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37160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7772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RFP §8.4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1430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Escrow Account Monitoring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109728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240280"/>
            <a:ext cx="7040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per-project escrow dashboard with Adequate / Warning / Critical badges.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EscrowController + GetEscrowDashboardQuery + GetProjectEscrowDetailQuery.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EscrowTransaction entity is append-only — immutable audit log; PDF export via QuestPDF.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escrow health PDF auto-generated by EscrowHealthReportService (Hangfire 1st 02:15 UTC).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drops trigger Level 2 escalation automatically; unauthorised discrepancies trigger Level 3.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63840" y="2240280"/>
            <a:ext cx="3749040" cy="3931920"/>
          </a:xfrm>
          <a:prstGeom prst="rect">
            <a:avLst/>
          </a:prstGeom>
          <a:solidFill>
            <a:srgbClr val="EEF4FA"/>
          </a:solidFill>
          <a:ln w="9525">
            <a:solidFill>
              <a:srgbClr val="C7D2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0" y="2240280"/>
            <a:ext cx="73152" cy="3931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92440" y="240487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Codepath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92440" y="29260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092440" y="318211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EscrowAccount + EscrowTransaction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92440" y="359359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092440" y="384962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GetEscrow* + GetEscrowAuditLog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092440" y="426110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092440" y="451713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EscrowHealthReportService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092440" y="492861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092440" y="518464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RiskThreshold rows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6446520"/>
            <a:ext cx="12161520" cy="36576"/>
          </a:xfrm>
          <a:prstGeom prst="rect">
            <a:avLst/>
          </a:prstGeom>
          <a:solidFill>
            <a:srgbClr val="C7D2E0"/>
          </a:solidFill>
          <a:ln w="12700">
            <a:solidFill>
              <a:srgbClr val="C7D2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649224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IRETP — Technical Compliance (RFP v1.2)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515600" y="64922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20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IRETP — Integrated Real Estate Transparency Platform  |  RFP DLD-IRETP-2026-001 v1.2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37160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7772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RFP §9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1430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Performance &amp; Rating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109728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240280"/>
            <a:ext cx="7040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scoring criteria: on-time delivery, sales completion, escrow health, regulatory compliance, financial soundness, historical success.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DeveloperScoringService computes the composite quarterly (Hangfire 0 0 1 Jan/Apr/Jul/Oct) using ScoringWeight rows.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Leaderboard, comparison (≤4), and profile pages under DeveloperRatingController + Web/Components/Pages/Admin.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Configuration Panel — UpdateScoringWeightsCommand enforces total = 100% + writes AuditLog.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Developer Scorecard via GetPublicDeveloperScorecardsQuery on the External Portal.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63840" y="2240280"/>
            <a:ext cx="3749040" cy="3931920"/>
          </a:xfrm>
          <a:prstGeom prst="rect">
            <a:avLst/>
          </a:prstGeom>
          <a:solidFill>
            <a:srgbClr val="EEF4FA"/>
          </a:solidFill>
          <a:ln w="9525">
            <a:solidFill>
              <a:srgbClr val="C7D2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0" y="2240280"/>
            <a:ext cx="73152" cy="3931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92440" y="240487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lives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92440" y="29260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092440" y="318211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DeveloperScore + ScoringWeight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92440" y="359359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092440" y="384962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DeveloperScoringService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092440" y="426110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092440" y="451713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DeveloperScorecards.razor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092440" y="492861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092440" y="518464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DeveloperRating.razor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6446520"/>
            <a:ext cx="12161520" cy="36576"/>
          </a:xfrm>
          <a:prstGeom prst="rect">
            <a:avLst/>
          </a:prstGeom>
          <a:solidFill>
            <a:srgbClr val="C7D2E0"/>
          </a:solidFill>
          <a:ln w="12700">
            <a:solidFill>
              <a:srgbClr val="C7D2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649224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IRETP — Technical Compliance (RFP v1.2)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515600" y="64922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20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IRETP — Integrated Real Estate Transparency Platform  |  RFP DLD-IRETP-2026-001 v1.2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37160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7772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RFP §11.4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1430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Fabric Alignment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109728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240280"/>
            <a:ext cx="7040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OneLake Silver — ingestion / cleansing landing zone fed by existing Data Factory pipelines.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OneLake Gold — single source of truth for every analytics surface and the Open Data API.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semantic models extended (zone yield, escrow adequacy) — no parallel models.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DB stores only platform-state: alerts, watchlists, saved views, audit, AI memory, name validation.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management dashboards remain on Power BI / Fabric-native reporting.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Portal: Blazor + Chart.js, not Power BI Embedded — anonymous access, full UX, zero per-seat licence.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/api/v1/open-data/* serves the Gold-layer feed for Power BI / Tableau partner ingestion (Partner key 600 req/min).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63840" y="2240280"/>
            <a:ext cx="3749040" cy="3931920"/>
          </a:xfrm>
          <a:prstGeom prst="rect">
            <a:avLst/>
          </a:prstGeom>
          <a:solidFill>
            <a:srgbClr val="EEF4FA"/>
          </a:solidFill>
          <a:ln w="9525">
            <a:solidFill>
              <a:srgbClr val="C7D2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0" y="2240280"/>
            <a:ext cx="73152" cy="3931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92440" y="240487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 choice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92440" y="29260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092440" y="318211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/ Fabric reporting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92440" y="359359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Portal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092440" y="384962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Blazor + Chart.js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092440" y="426110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partners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092440" y="451713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Data API (Gold)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092440" y="492861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of truth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092440" y="518464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OneLake Gold layer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6446520"/>
            <a:ext cx="12161520" cy="36576"/>
          </a:xfrm>
          <a:prstGeom prst="rect">
            <a:avLst/>
          </a:prstGeom>
          <a:solidFill>
            <a:srgbClr val="C7D2E0"/>
          </a:solidFill>
          <a:ln w="12700">
            <a:solidFill>
              <a:srgbClr val="C7D2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649224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IRETP — Technical Compliance (RFP v1.2)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515600" y="64922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20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IRETP — Integrated Real Estate Transparency Platform  |  RFP DLD-IRETP-2026-001 v1.2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37160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7772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RFP §10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1430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 Requirements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109728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240280"/>
            <a:ext cx="7040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— P95 &lt;500 ms API; &lt;3 s home; AI &lt;8 s text / &lt;15 s chart; 5,000 + 500 concurrent; 99.9% uptime.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 ISR v3 — RBAC, MFA, encryption, incident response runbook, third-party security gating.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testing — OWASP ZAP + dotnet vulnerable + CodeQL on every PR; DESC-approved VAPT before Phase 3 go-live.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— six roles in AuthorizationPolicies.cs (Public Visitor → System Administrator).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PDPL — consent flags, account export/delete, no PII in public APIs.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63840" y="2240280"/>
            <a:ext cx="3749040" cy="3931920"/>
          </a:xfrm>
          <a:prstGeom prst="rect">
            <a:avLst/>
          </a:prstGeom>
          <a:solidFill>
            <a:srgbClr val="EEF4FA"/>
          </a:solidFill>
          <a:ln w="9525">
            <a:solidFill>
              <a:srgbClr val="C7D2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0" y="2240280"/>
            <a:ext cx="73152" cy="3931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92440" y="240487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probes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92440" y="29260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/healthz/live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092440" y="318211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up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92440" y="359359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/healthz/ready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092440" y="384962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+ Hangfire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092440" y="426110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/healthz/sla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092440" y="451713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+ KPI + UAE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092440" y="492861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092440" y="518464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AuditLog per action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6446520"/>
            <a:ext cx="12161520" cy="36576"/>
          </a:xfrm>
          <a:prstGeom prst="rect">
            <a:avLst/>
          </a:prstGeom>
          <a:solidFill>
            <a:srgbClr val="C7D2E0"/>
          </a:solidFill>
          <a:ln w="12700">
            <a:solidFill>
              <a:srgbClr val="C7D2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649224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IRETP — Technical Compliance (RFP v1.2)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515600" y="64922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20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IRETP — Integrated Real Estate Transparency Platform  |  RFP DLD-IRETP-2026-001 v1.2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37160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7772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RFP §12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1430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Familiarisation &amp; Pre-Publication Assessment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109728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240280"/>
            <a:ext cx="7040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mandatory familiarisation outputs: Source Inventory, Field Mapping, Quality Baseline, Calculation Rules, Historical Assessment.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Pre-Publication Analytics Assessment — 500-record sample, ≥99.5% accuracy. Mandatory gate before any public publication.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tests/IRETP.Tests includes a parameterised reconciliation harness; CI gate enforces a signed-off assessment artefact.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Warranty obligations — 2 h written response, 24 h fix on confirmed pipeline defects, 10 BD adaptation to schema changes.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Factory pipelines pre-existing — extended where new transformations are needed, never duplicated.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63840" y="2240280"/>
            <a:ext cx="3749040" cy="3931920"/>
          </a:xfrm>
          <a:prstGeom prst="rect">
            <a:avLst/>
          </a:prstGeom>
          <a:solidFill>
            <a:srgbClr val="EEF4FA"/>
          </a:solidFill>
          <a:ln w="9525">
            <a:solidFill>
              <a:srgbClr val="C7D2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0" y="2240280"/>
            <a:ext cx="73152" cy="3931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92440" y="240487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gate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92440" y="29260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092440" y="318211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records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92440" y="359359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092440" y="384962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99.5% accuracy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092440" y="426110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by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092440" y="451713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DLD Data Liaison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092440" y="492861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092440" y="518464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phase + ad hoc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6446520"/>
            <a:ext cx="12161520" cy="36576"/>
          </a:xfrm>
          <a:prstGeom prst="rect">
            <a:avLst/>
          </a:prstGeom>
          <a:solidFill>
            <a:srgbClr val="C7D2E0"/>
          </a:solidFill>
          <a:ln w="12700">
            <a:solidFill>
              <a:srgbClr val="C7D2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649224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IRETP — Technical Compliance (RFP v1.2)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515600" y="64922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20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IRETP — Integrated Real Estate Transparency Platform  |  RFP DLD-IRETP-2026-001 v1.2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37160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7772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RFP §15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1430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Warranty &amp; 12-Month Technical Support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109728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240280"/>
            <a:ext cx="7040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— Critical: 1 h response, 4 h resolution, 24/7/365.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— High: 2 h response, 24 h resolution, business hours + on-call.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— Medium: 4 BH response, 5 BD resolution.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 — Low: 1 BD response, 20 BD or next maintenance release.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person-hour minor change pool included; security patching CVSS 9+ within 24 h.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reports for P1/P2 within 3 BD; on-call rota wired into AlertEscalationService.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63840" y="2240280"/>
            <a:ext cx="3749040" cy="3931920"/>
          </a:xfrm>
          <a:prstGeom prst="rect">
            <a:avLst/>
          </a:prstGeom>
          <a:solidFill>
            <a:srgbClr val="EEF4FA"/>
          </a:solidFill>
          <a:ln w="9525">
            <a:solidFill>
              <a:srgbClr val="C7D2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0" y="2240280"/>
            <a:ext cx="73152" cy="3931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92440" y="240487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cover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92440" y="29260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092440" y="318211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 / 4 h / 24×7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92440" y="359359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092440" y="384962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 / 24 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092440" y="426110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092440" y="451713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BH / 5 BD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092440" y="492861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092440" y="518464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BD / 20 BD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6446520"/>
            <a:ext cx="12161520" cy="36576"/>
          </a:xfrm>
          <a:prstGeom prst="rect">
            <a:avLst/>
          </a:prstGeom>
          <a:solidFill>
            <a:srgbClr val="C7D2E0"/>
          </a:solidFill>
          <a:ln w="12700">
            <a:solidFill>
              <a:srgbClr val="C7D2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649224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IRETP — Technical Compliance (RFP v1.2)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515600" y="64922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20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IRETP — Integrated Real Estate Transparency Platform  |  RFP DLD-IRETP-2026-001 v1.2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37160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7772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RFP §17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1430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Criteria — 10 UAT Categories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109728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240280"/>
            <a:ext cx="7040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Functional, Performance, AI Accuracy, Security, Accessibility, Language &amp; RTL, Data Accuracy, Usability (SUS ≥75), CMS edit (&lt;10 min), Alert delivery.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+ alert delivery covered by tests/IRETP.Tests integration suite.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Accuracy — AiAccuracyHarness runs the 100-question DLD set against current model tier nightly.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— load harness exercising 5k + 500 concurrent users; results published into App Insights.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— Lighthouse + axe-core in CI; WCAG 2.1 AA audit per Phase.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Accuracy — 500-record reconciliation gate (DA-002).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63840" y="2240280"/>
            <a:ext cx="3749040" cy="3931920"/>
          </a:xfrm>
          <a:prstGeom prst="rect">
            <a:avLst/>
          </a:prstGeom>
          <a:solidFill>
            <a:srgbClr val="EEF4FA"/>
          </a:solidFill>
          <a:ln w="9525">
            <a:solidFill>
              <a:srgbClr val="C7D2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0" y="2240280"/>
            <a:ext cx="73152" cy="3931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92440" y="240487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gates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92440" y="29260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/ 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092440" y="318211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accuracy ≥ 90%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92440" y="359359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092440" y="384962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VAPT zero High/Critical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092440" y="426110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phases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092440" y="451713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≥ 99.5%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092440" y="492861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092440" y="518464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DLD Project Sponsor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6446520"/>
            <a:ext cx="12161520" cy="36576"/>
          </a:xfrm>
          <a:prstGeom prst="rect">
            <a:avLst/>
          </a:prstGeom>
          <a:solidFill>
            <a:srgbClr val="C7D2E0"/>
          </a:solidFill>
          <a:ln w="12700">
            <a:solidFill>
              <a:srgbClr val="C7D2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649224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IRETP — Technical Compliance (RFP v1.2)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515600" y="64922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20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IRETP — Integrated Real Estate Transparency Platform  |  RFP DLD-IRETP-2026-001 v1.2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37160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7772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RFP §20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1430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Recommended Features (Phase 4)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109728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240280"/>
            <a:ext cx="7040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 / Sustainability — LEED + Estidama + BREEAM data layer + GIS heatmap (Esg.razor; Application/Features/Esg).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Market Benchmarking — Dubai vs 5 peer cities (Benchmark.razor + BenchmarkRefreshService weekly).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Beneficial Ownership Transparency — BeneficialOwner entity + BeneficialOwnership.razor.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Mortgage &amp; Debt Market Transparency — Application/Features/Mortgage + Mortgage.razor (totals, LTV, MoM).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Developer Scorecard already covered by DR-002 — supports the GRETI Governance sub-index.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Data API + Developer Portal already covered by FR-/TH- mapping (ApiPortal.razor + OpenDataController).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63840" y="2240280"/>
            <a:ext cx="3749040" cy="3931920"/>
          </a:xfrm>
          <a:prstGeom prst="rect">
            <a:avLst/>
          </a:prstGeom>
          <a:solidFill>
            <a:srgbClr val="EEF4FA"/>
          </a:solidFill>
          <a:ln w="9525">
            <a:solidFill>
              <a:srgbClr val="C7D2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0" y="2240280"/>
            <a:ext cx="73152" cy="3931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92440" y="240487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GRETI sub-indices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92440" y="29260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092440" y="318211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 module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92440" y="359359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092440" y="384962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Indices + benchmark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092440" y="426110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092440" y="451713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scorecard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092440" y="492861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Avail.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092440" y="518464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Data API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6446520"/>
            <a:ext cx="12161520" cy="36576"/>
          </a:xfrm>
          <a:prstGeom prst="rect">
            <a:avLst/>
          </a:prstGeom>
          <a:solidFill>
            <a:srgbClr val="C7D2E0"/>
          </a:solidFill>
          <a:ln w="12700">
            <a:solidFill>
              <a:srgbClr val="C7D2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649224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IRETP — Technical Compliance (RFP v1.2)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515600" y="64922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20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868680"/>
            <a:ext cx="146304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8686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128016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IRETP meets the RFP today.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868680" y="2606040"/>
            <a:ext cx="2411730" cy="169164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2606040"/>
            <a:ext cx="241173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788920"/>
            <a:ext cx="204597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60 IDs covered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3383280"/>
            <a:ext cx="204597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 / AN / AI / ESC / EW / DR / NFR / TH / DA / PD / NA / LN / DG / WS / AC / AF.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509010" y="2606040"/>
            <a:ext cx="2411730" cy="169164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09010" y="2606040"/>
            <a:ext cx="241173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91890" y="2788920"/>
            <a:ext cx="204597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Fabric aligned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91890" y="3383280"/>
            <a:ext cx="204597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layer single source of truth; no parallel store.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49340" y="2606040"/>
            <a:ext cx="2411730" cy="169164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49340" y="2606040"/>
            <a:ext cx="241173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32220" y="2788920"/>
            <a:ext cx="204597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multi-model + RAG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32220" y="3383280"/>
            <a:ext cx="204597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orchestrator; UAE-resident telemetry; nightly accuracy harness.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789670" y="2606040"/>
            <a:ext cx="2411730" cy="169164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789670" y="2606040"/>
            <a:ext cx="241173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72550" y="2788920"/>
            <a:ext cx="204597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delivery credible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972550" y="3383280"/>
            <a:ext cx="204597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1-4 already scaffolded; remaining work = familiarisation + tenant config.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68680" y="466344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E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vendor effort  -  DLD Data Familiarisation, Pre-Publication Analytics Assessment, OIDC + SOC tenancy, staff training.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68680" y="548640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DLD-IRETP-2026-001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IRETP — RFP v1.2 Technical Compliance</dc:title>
  <dc:subject>PptxGenJS Presentation</dc:subject>
  <dc:creator>IRETP Vendor Team</dc:creator>
  <cp:lastModifiedBy>IRETP Vendor Team</cp:lastModifiedBy>
  <cp:revision>1</cp:revision>
  <dcterms:created xsi:type="dcterms:W3CDTF">2026-04-25T17:34:13Z</dcterms:created>
  <dcterms:modified xsi:type="dcterms:W3CDTF">2026-04-25T17:34:13Z</dcterms:modified>
</cp:coreProperties>
</file>