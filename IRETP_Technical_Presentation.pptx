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16975" y="-731520"/>
            <a:ext cx="3840480" cy="2743200"/>
          </a:xfrm>
          <a:prstGeom prst="roundRect">
            <a:avLst>
              <a:gd name="adj" fmla="val 5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8A464"/>
                </a:solidFill>
                <a:latin typeface="Calibri"/>
              </a:rPr>
              <a:t>DUBAI LAND DEPARTMENT  ·  RFP DLD-IRETP-2026-001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Integrated Real Estate</a:t>
            </a:r>
          </a:p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Transparency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7CB99F"/>
                </a:solidFill>
                <a:latin typeface="Georgia"/>
              </a:rPr>
              <a:t>Technical Presentation — Implementation &amp; Compliance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8A464"/>
                </a:solidFill>
                <a:latin typeface="Calibri"/>
              </a:rPr>
              <a:t>PROGRAMME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IRETP  ·  Production-grade Clean-Architecture .NET 9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8A464"/>
                </a:solidFill>
                <a:latin typeface="Calibri"/>
              </a:rPr>
              <a:t>SCOPE OF THIS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Technical Proposal · Compliance Matrix · DESC ISR v3 Appendix · Financial Proposal · Code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PROGRAMME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Why IRETP, and why this proposal stands apart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WHAT IRETP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1A18"/>
                </a:solidFill>
                <a:latin typeface="Georgia"/>
              </a:rPr>
              <a:t>A single transparency platform for Dubai real-estate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5778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A5552"/>
                </a:solidFill>
                <a:latin typeface="Calibri"/>
              </a:rPr>
              <a:t>IRETP unifies the external investor experience, internal DLD oversight and the Open Data ecosystem into one Clean-Architecture .NET 9 solution.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A5552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A5552"/>
                </a:solidFill>
                <a:latin typeface="Calibri"/>
              </a:rPr>
              <a:t>Three deployable hosts — IRETP.Web (Blazor Server portal), IRETP.WebAPI (public + investor APIs), and IRETP.AdminAPI (internal DLD operations) — backed by a shared CQRS Application layer (MediatR), DDD Domain model and Infrastructure that hosts EF Core, OneLake, Hangfire, the AI orchestration suite and identity.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WHY THIS PROPOSAL IS DIFFERENT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6596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1A18"/>
                </a:solidFill>
                <a:latin typeface="Georgia"/>
              </a:rPr>
              <a:t>A live codebase, not a greenfield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51760"/>
            <a:ext cx="55778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4E37"/>
                </a:solidFill>
                <a:latin typeface="Calibri"/>
              </a:rPr>
              <a:t>■  </a:t>
            </a:r>
            <a:r>
              <a:rPr sz="1300">
                <a:solidFill>
                  <a:srgbClr val="4A5552"/>
                </a:solidFill>
                <a:latin typeface="Calibri"/>
              </a:rPr>
              <a:t>Every RFP clause maps to a discrete feature folder under src/ and a Razor page or controller already in the repository.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4E37"/>
                </a:solidFill>
                <a:latin typeface="Calibri"/>
              </a:rPr>
              <a:t>■  </a:t>
            </a:r>
            <a:r>
              <a:rPr sz="1300">
                <a:solidFill>
                  <a:srgbClr val="4A5552"/>
                </a:solidFill>
                <a:latin typeface="Calibri"/>
              </a:rPr>
              <a:t>Production-grade engineering posture: 0 build warnings, 0 errors on a clean solution build, structured logging via Serilog.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4E37"/>
                </a:solidFill>
                <a:latin typeface="Calibri"/>
              </a:rPr>
              <a:t>■  </a:t>
            </a:r>
            <a:r>
              <a:rPr sz="1300">
                <a:solidFill>
                  <a:srgbClr val="4A5552"/>
                </a:solidFill>
                <a:latin typeface="Calibri"/>
              </a:rPr>
              <a:t>Strict inward dependency rule: Application has no EF Core; Domain has no Infrastructure. Audited file-by-file.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4E37"/>
                </a:solidFill>
                <a:latin typeface="Calibri"/>
              </a:rPr>
              <a:t>■  </a:t>
            </a:r>
            <a:r>
              <a:rPr sz="1300">
                <a:solidFill>
                  <a:srgbClr val="4A5552"/>
                </a:solidFill>
                <a:latin typeface="Calibri"/>
              </a:rPr>
              <a:t>All AI inference and personal data planned to remain UAE-resident (Azure UAE North or UAE-hosted OSS LLM).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DOCUMENT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Four reports + this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55778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960120" cy="224028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8A464"/>
                </a:solidFill>
                <a:latin typeface="Georgia"/>
              </a:rPr>
              <a:t>Vol.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56232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A18"/>
                </a:solidFill>
                <a:latin typeface="Georgia"/>
              </a:rPr>
              <a:t>Technical Solution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13432"/>
            <a:ext cx="4297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Clause-by-clause solution narrative across all 20 RFP sections; file paths and feature folders for every implementation claim; Section 18 lists 15 engineering commitments included within the delivery scope.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5778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960120" cy="224028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51460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8A464"/>
                </a:solidFill>
                <a:latin typeface="Georgia"/>
              </a:rPr>
              <a:t>Vol.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856232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A18"/>
                </a:solidFill>
                <a:latin typeface="Georgia"/>
              </a:rPr>
              <a:t>RFP Compliance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313432"/>
            <a:ext cx="4297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Status of every requirement — C (compliant today), CD (compliant by delivery, foundations in repo), E (enhanced beyond requirement). Summary roll-up by RFP section and the value-add commitments group.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55778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960120" cy="224028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8A464"/>
                </a:solidFill>
                <a:latin typeface="Georgia"/>
              </a:rPr>
              <a:t>Apx.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279392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A18"/>
                </a:solidFill>
                <a:latin typeface="Georgia"/>
              </a:rPr>
              <a:t>DESC ISR v3 Control 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736592"/>
            <a:ext cx="4297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35 controls across 10 domains. 27 Implemented, 3 Partially Implemented (runbook items), 5 Planned (pre-VAPT). Used as the vendor's pre-VAPT self-assessment for Phase 3 DESC submission.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14800"/>
            <a:ext cx="55778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114800"/>
            <a:ext cx="960120" cy="224028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93776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8A464"/>
                </a:solidFill>
                <a:latin typeface="Georgia"/>
              </a:rPr>
              <a:t>Vol.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4279392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A18"/>
                </a:solidFill>
                <a:latin typeface="Georgia"/>
              </a:rPr>
              <a:t>Financial Proposal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736592"/>
            <a:ext cx="4297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Indicative CAPEX AED 2.58 M (Option A, Azure UAE North) and annual OPEX AED 629 K. 6 payment milestones tied to phase-gate UAT sign-offs across 4 months. Three costed hosting options.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Reports cross-checked against src/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807208" cy="1508760"/>
          </a:xfrm>
          <a:prstGeom prst="roundRect">
            <a:avLst>
              <a:gd name="adj" fmla="val 6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56232"/>
            <a:ext cx="2441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4E37"/>
                </a:solidFill>
                <a:latin typeface="Georgia"/>
              </a:rPr>
              <a:t>.NET 9.0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Target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441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5552"/>
                </a:solidFill>
                <a:latin typeface="Calibri"/>
              </a:rPr>
              <a:t>All 6 .csproj files (reports said .NET 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91640"/>
            <a:ext cx="2807208" cy="1508760"/>
          </a:xfrm>
          <a:prstGeom prst="roundRect">
            <a:avLst>
              <a:gd name="adj" fmla="val 6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56232"/>
            <a:ext cx="2441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4E37"/>
                </a:solidFill>
                <a:latin typeface="Georgia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60320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API controllers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34640"/>
            <a:ext cx="2441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5552"/>
                </a:solidFill>
                <a:latin typeface="Calibri"/>
              </a:rPr>
              <a:t>20 in WebAPI · 8 in AdminAPI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91640"/>
            <a:ext cx="2807208" cy="1508760"/>
          </a:xfrm>
          <a:prstGeom prst="roundRect">
            <a:avLst>
              <a:gd name="adj" fmla="val 6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56232"/>
            <a:ext cx="2441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4E37"/>
                </a:solidFill>
                <a:latin typeface="Georgia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Hangfire recurring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2441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5552"/>
                </a:solidFill>
                <a:latin typeface="Calibri"/>
              </a:rPr>
              <a:t>Risk · Score · Alerts · KPI · Escrow · Currency · Benchmark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91640"/>
            <a:ext cx="2807208" cy="1508760"/>
          </a:xfrm>
          <a:prstGeom prst="roundRect">
            <a:avLst>
              <a:gd name="adj" fmla="val 6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856232"/>
            <a:ext cx="2441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4E37"/>
                </a:solidFill>
                <a:latin typeface="Georgia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560320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Build warnings &amp; 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834640"/>
            <a:ext cx="2441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5552"/>
                </a:solidFill>
                <a:latin typeface="Calibri"/>
              </a:rPr>
              <a:t>Clean solution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383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1A18"/>
                </a:solidFill>
                <a:latin typeface="Georgia"/>
              </a:rPr>
              <a:t>Implementation matches the reports — with two clarifications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70248"/>
            <a:ext cx="60000" cy="41148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E4E37"/>
                </a:solidFill>
                <a:latin typeface="Calibri"/>
              </a:rPr>
              <a:t>Target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20624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Tech Proposal §11 and Compliance Matrix §11.1 say .NET 8. The codebase targets net9.0 in every .csproj. Use .NET 9 on go-forward materials.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64608"/>
            <a:ext cx="60000" cy="41148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00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E4E37"/>
                </a:solidFill>
                <a:latin typeface="Calibri"/>
              </a:rPr>
              <a:t>Vendor commitment VC-6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80060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SignalR notification hub is listed as an Enhancement (vendor commitment). It is already shipped — NotificationHub.cs + SignalRNotificationBroadcaster.cs are wired in WebAPI.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58968"/>
            <a:ext cx="60000" cy="41148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94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E4E37"/>
                </a:solidFill>
                <a:latin typeface="Calibri"/>
              </a:rPr>
              <a:t>Domain entities, services, controllers, Razor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39496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Every path cited in Tech Proposal §3-§17 and in the Compliance Matrix rows is present at the stated location.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053328"/>
            <a:ext cx="60000" cy="41148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989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E4E37"/>
                </a:solidFill>
                <a:latin typeface="Calibri"/>
              </a:rPr>
              <a:t>Security &amp; RBAC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98932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AuthorizationPolicies.cs publishes internal.read/edit/manage/admin + external.investor; rate limiter enforces Free 60 / Plus 240 / Partner 600 req/min; ApiKey middleware bound to /api/v1/open-data/*; MFA mandatory for internal users.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Clean Architecture · CQRS · DDD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3627120" cy="1143000"/>
          </a:xfrm>
          <a:prstGeom prst="roundRect">
            <a:avLst>
              <a:gd name="adj" fmla="val 5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56232"/>
            <a:ext cx="316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IRETP.Web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16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F1EB"/>
                </a:solidFill>
                <a:latin typeface="Calibri"/>
              </a:rPr>
              <a:t>Blazor Server portal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F1EB"/>
                </a:solidFill>
                <a:latin typeface="Calibri"/>
              </a:rPr>
              <a:t>Public + Admin Razor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200" y="1691640"/>
            <a:ext cx="3627120" cy="1143000"/>
          </a:xfrm>
          <a:prstGeom prst="roundRect">
            <a:avLst>
              <a:gd name="adj" fmla="val 5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800" y="1856232"/>
            <a:ext cx="316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IRETP.WebAPI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800" y="2194560"/>
            <a:ext cx="316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F1EB"/>
                </a:solidFill>
                <a:latin typeface="Calibri"/>
              </a:rPr>
              <a:t>Public + Investor API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F1EB"/>
                </a:solidFill>
                <a:latin typeface="Calibri"/>
              </a:rPr>
              <a:t>JWT + OIDC · rate-limited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F1EB"/>
                </a:solidFill>
                <a:latin typeface="Calibri"/>
              </a:rPr>
              <a:t>Open Data /v1/open-data/*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1691640"/>
            <a:ext cx="3627120" cy="1143000"/>
          </a:xfrm>
          <a:prstGeom prst="roundRect">
            <a:avLst>
              <a:gd name="adj" fmla="val 5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800" y="1856232"/>
            <a:ext cx="316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IRETP.AdminAPI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800" y="2194560"/>
            <a:ext cx="316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F1EB"/>
                </a:solidFill>
                <a:latin typeface="Calibri"/>
              </a:rPr>
              <a:t>Internal DLD operations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F1EB"/>
                </a:solidFill>
                <a:latin typeface="Calibri"/>
              </a:rPr>
              <a:t>EWRS · Escrow · Rating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F1EB"/>
                </a:solidFill>
                <a:latin typeface="Calibri"/>
              </a:rPr>
              <a:t>Private network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63240"/>
            <a:ext cx="11247120" cy="1508760"/>
          </a:xfrm>
          <a:prstGeom prst="roundRect">
            <a:avLst>
              <a:gd name="adj" fmla="val 3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4E37"/>
                </a:solidFill>
                <a:latin typeface="Georgia"/>
              </a:rPr>
              <a:t>IRETP.Application  ·  CQRS via MediatR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AIAgent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01368" y="3566160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1368" y="3566160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16936" y="3566160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6936" y="3566160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32504" y="3566160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32504" y="3566160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48072" y="3566160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48072" y="3566160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Benchmark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566160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566160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CMS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79208" y="3566160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208" y="3566160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Dashboard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94776" y="3566160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94776" y="3566160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DeveloperRating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10344" y="3566160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0344" y="3566160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EWRS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25912" y="3566160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25912" y="3566160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Escrow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3950208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950208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Esg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01368" y="3950208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01368" y="3950208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Export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16936" y="3950208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16936" y="3950208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Greti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32504" y="3950208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4" y="3950208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Map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48072" y="3950208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48072" y="3950208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Mortgage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3950208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3950208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Ownership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79208" y="3950208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208" y="3950208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PriceIndex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94776" y="3950208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94776" y="3950208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RentalIndex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10344" y="3950208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10344" y="3950208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Transactions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25912" y="3950208"/>
            <a:ext cx="1060704" cy="29260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25912" y="3950208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E4E37"/>
                </a:solidFill>
                <a:latin typeface="Calibri"/>
              </a:rPr>
              <a:t>Auth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429768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4A5552"/>
                </a:solidFill>
                <a:latin typeface="Calibri"/>
              </a:rPr>
              <a:t>IRETP.Domain  ·  DDD entities + enums (Transaction, Project, EscrowAccount, RiskAlert, ScoringWeight, …)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754880"/>
            <a:ext cx="11247120" cy="1143000"/>
          </a:xfrm>
          <a:prstGeom prst="roundRect">
            <a:avLst>
              <a:gd name="adj" fmla="val 3000"/>
            </a:avLst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48920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8A464"/>
                </a:solidFill>
                <a:latin typeface="Georgia"/>
              </a:rPr>
              <a:t>IRETP.Infrastructure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257800"/>
            <a:ext cx="1761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EF Core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532120"/>
            <a:ext cx="1761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CB99F"/>
                </a:solidFill>
                <a:latin typeface="Calibri"/>
              </a:rPr>
              <a:t>SQL Server / Postgres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20696" y="5257800"/>
            <a:ext cx="1761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OneLake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20696" y="5532120"/>
            <a:ext cx="1761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CB99F"/>
                </a:solidFill>
                <a:latin typeface="Calibri"/>
              </a:rPr>
              <a:t>medallion bronze→silver→gold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55592" y="5257800"/>
            <a:ext cx="1761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Hangfire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55592" y="5532120"/>
            <a:ext cx="1761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CB99F"/>
                </a:solidFill>
                <a:latin typeface="Calibri"/>
              </a:rPr>
              <a:t>9 recurring jobs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90488" y="5257800"/>
            <a:ext cx="1761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AI Orchestrator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90488" y="5532120"/>
            <a:ext cx="1761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CB99F"/>
                </a:solidFill>
                <a:latin typeface="Calibri"/>
              </a:rPr>
              <a:t>RAG · multi-model fallback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5384" y="5257800"/>
            <a:ext cx="1761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Identity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5384" y="5532120"/>
            <a:ext cx="1761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CB99F"/>
                </a:solidFill>
                <a:latin typeface="Calibri"/>
              </a:rPr>
              <a:t>JWT · OIDC · MFA · RBAC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60280" y="5257800"/>
            <a:ext cx="1761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60280" y="5532120"/>
            <a:ext cx="1761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CB99F"/>
                </a:solidFill>
                <a:latin typeface="Calibri"/>
              </a:rPr>
              <a:t>Email · SMS · SignalR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8B9491"/>
                </a:solidFill>
                <a:latin typeface="Calibri"/>
              </a:rPr>
              <a:t>Strict inward-pointing dependencies — Domain has no Infrastructure references; Application has no EF Core.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Runtime · data · jobs · observability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55778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73152" cy="224028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Runtime &amp;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.NET 9.0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4028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ASP.NET Core + Blazor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24328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MediatR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62432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CQRS dispatcher in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08376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FluentValidation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083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handler input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92424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Serilog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39242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structured logs · Seq / Azure Monitor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55778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73152" cy="2240280"/>
          </a:xfrm>
          <a:prstGeom prst="rect">
            <a:avLst/>
          </a:prstGeom>
          <a:solidFill>
            <a:srgbClr val="7CB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288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B99F"/>
                </a:solidFill>
                <a:latin typeface="Georgia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SQL Server / Postgres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4028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OLTP, EF Core 9 no-tracking projections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24328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OneLake / Fabric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2432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medallion lakehouse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008376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Redis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0083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distributed cache (commitment)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392424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Blob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39242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exports, PDF artefacts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14800"/>
            <a:ext cx="55778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73152" cy="224028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519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8A464"/>
                </a:solidFill>
                <a:latin typeface="Georgia"/>
              </a:rPr>
              <a:t>Jobs &amp; realtime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663440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Hangfire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66344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9 jobs · risk · KPI · escrow · benchmark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47488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SignalR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504748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in-platform notification 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31536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HTTP SMS / SMTP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543153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alert 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815584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HmacUnsubscribe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58155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RFC 8058 one-click unsubscribe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114800"/>
            <a:ext cx="557784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73152" cy="2240280"/>
          </a:xfrm>
          <a:prstGeom prst="rect">
            <a:avLst/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2519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63525"/>
                </a:solidFill>
                <a:latin typeface="Georgia"/>
              </a:rPr>
              <a:t>Security &amp; 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663440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JWT + OIDC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66344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dual scheme; UAE Pass / Azure AD ready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047488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MFA (TOTP)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04748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mandatory for internal users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431536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PartitionedRateLimiter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543153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Free 60 / Plus 240 / Partner 600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5815584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Health checks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581558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/healthz/sla aggregates AI · KPI · notifications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RFP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Compliance Matrix · summary roll-up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7040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31520"/>
                <a:gridCol w="822960"/>
                <a:gridCol w="731520"/>
                <a:gridCol w="1463040"/>
              </a:tblGrid>
              <a:tr h="3169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RFP Section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CD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§3  External Public Portal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§4  Interactive Analytics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§5  Real Estate AI Agent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§6  Investor Notifications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§7  Multilingual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§8  EWRS &amp; Escrow Monitoring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§9  Developer Performance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§10 Non-Functional, Security &amp; RBAC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§11 Technology &amp; Hosting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§12 Data Familiarisation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§13 Phased Delivery Plan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§19 Data Governance &amp; Privacy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§20 Additional Recommended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1699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Vendor Commitments (Value-Add)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691640"/>
            <a:ext cx="3840480" cy="4754880"/>
          </a:xfrm>
          <a:prstGeom prst="roundRect">
            <a:avLst>
              <a:gd name="adj" fmla="val 4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920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Status legend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4231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423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423160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Compliant today — the implementing component is live in the codebase. The Compliance Matrix points to the exact file or 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7CB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7033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703320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Compliant by delivery — capability is in the phase plan; foundations exist and the work is scoped, estimated and committed.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9834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9834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4983480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Enhanced — goes beyond the literal requirement. Contractually offered at no additional charge in §20 and the Vendor Commitments group.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RFP §3 · EXTERNAL PUBLIC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Public-facing transparency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124712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73152" cy="86868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4E37"/>
                </a:solidFill>
                <a:latin typeface="Georgia"/>
              </a:rPr>
              <a:t>§3.1  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CmsContent + CmsContentVersion · versioned drafts; AdminAPI authoring + Public/CmsPreview.razor.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40"/>
            <a:ext cx="1124712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73152" cy="86868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4E37"/>
                </a:solidFill>
                <a:latin typeface="Georgia"/>
              </a:rPr>
              <a:t>§3.2 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Public/Dashboard.razor + DashboardController · KpiSnapshotCache refreshed every 15 min by KpiSnapshotRefreshService. FR-004 market charts (volume / type / top-5 zones / PSF dual-axis).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1124712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73152" cy="86868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576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4E37"/>
                </a:solidFill>
                <a:latin typeface="Georgia"/>
              </a:rPr>
              <a:t>§3.3  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776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Public/Transactions.razor · server-side filters · pagination · CSV/PDF export · URL persistence.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34840"/>
            <a:ext cx="1124712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73152" cy="86868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720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4E37"/>
                </a:solidFill>
                <a:latin typeface="Georgia"/>
              </a:rPr>
              <a:t>§3.4  GIS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Public/Map.razor + MapController · zone polygons + 511 project pins + 4 heatmap modes (volume / pricesqft / yield / ESG).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349240"/>
            <a:ext cx="73152" cy="86868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864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4E37"/>
                </a:solidFill>
                <a:latin typeface="Georgia"/>
              </a:rPr>
              <a:t>§3.5  Price &amp; Rental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064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Public/PriceIndex.razor + Public/RentalIndex.razor · seeded 8 quarters per zone · yield calculator embedded.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27648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B9491"/>
                </a:solidFill>
                <a:latin typeface="Calibri"/>
              </a:rPr>
              <a:t>Every page is bilingual (EN/AR with RTL), uses the shared &lt;ModuleBanner&gt;, &lt;Skeleton&gt;, &lt;NetworkError&gt;, &lt;EmptyState&gt; components.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RFP §4 · SLICE-AND-DICE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Interactive multi-dimension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64008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Query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63525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134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Public/Analytics.razor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328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User selects zone · type · developer · period · financing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089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63525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090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AnalyticsController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101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POST /api/analytics/execute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86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86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63525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8679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ExecuteAnalyticsQueryHandler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87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MediatR · EF Core projection on gold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634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63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63525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6451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SavedAnalyticsView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864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Persist filter set with 12-month signed share token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4406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440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63525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422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Features/Export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6418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CSV / PDF — locale-aware headers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169164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18745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Capabilities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331720"/>
            <a:ext cx="4023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E4E37"/>
                </a:solidFill>
                <a:latin typeface="Calibri"/>
              </a:rPr>
              <a:t>■  </a:t>
            </a:r>
            <a:r>
              <a:rPr sz="1200">
                <a:solidFill>
                  <a:srgbClr val="4A5552"/>
                </a:solidFill>
                <a:latin typeface="Calibri"/>
              </a:rPr>
              <a:t>Multi-dimension filters across zone, property type, developer, period and financing method.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E4E37"/>
                </a:solidFill>
                <a:latin typeface="Calibri"/>
              </a:rPr>
              <a:t>■  </a:t>
            </a:r>
            <a:r>
              <a:rPr sz="1200">
                <a:solidFill>
                  <a:srgbClr val="4A5552"/>
                </a:solidFill>
                <a:latin typeface="Calibri"/>
              </a:rPr>
              <a:t>Saved Views capped at 12 per user; shareable URL signed with HMAC and 12-month expiry.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E4E37"/>
                </a:solidFill>
                <a:latin typeface="Calibri"/>
              </a:rPr>
              <a:t>■  </a:t>
            </a:r>
            <a:r>
              <a:rPr sz="1200">
                <a:solidFill>
                  <a:srgbClr val="4A5552"/>
                </a:solidFill>
                <a:latin typeface="Calibri"/>
              </a:rPr>
              <a:t>Embed mode (AnalyticsEmbed.razor + EmbedLayout) for partner sites and DLD micro-sites.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E4E37"/>
                </a:solidFill>
                <a:latin typeface="Calibri"/>
              </a:rPr>
              <a:t>■  </a:t>
            </a:r>
            <a:r>
              <a:rPr sz="1200">
                <a:solidFill>
                  <a:srgbClr val="4A5552"/>
                </a:solidFill>
                <a:latin typeface="Calibri"/>
              </a:rPr>
              <a:t>Charts respect locale — axes, tooltips, AR digits, RTL flip handled by chart-interop.js defaults.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E4E37"/>
                </a:solidFill>
                <a:latin typeface="Calibri"/>
              </a:rPr>
              <a:t>■  </a:t>
            </a:r>
            <a:r>
              <a:rPr sz="1200">
                <a:solidFill>
                  <a:srgbClr val="4A5552"/>
                </a:solidFill>
                <a:latin typeface="Calibri"/>
              </a:rPr>
              <a:t>P95 chart render ≤ 2 s achieved through KpiSnapshotCache and EF AsNoTracking projections.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VISUALISATION LAYER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Power BI Embedded vs. proposed Blazor + Chart.js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840480"/>
                <a:gridCol w="393192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Power BI Embedded (A-series)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Proposed: Blazor + Chart.js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Year-1 licence cost (public users)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AED 260 K – 1 M+ (A4–A6 capacity)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AED 0 — MIT / open-source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Anonymous public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App-owns-data token broker + service principal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Native — anonymous by default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UI / UX customisation depth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Canvas-bound; theme JSON only; custom visuals need TypeScript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Full HTML/CSS/JS; same design tokens as rest of IRETP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RTL (Arabic) parity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Incomplete on several visual types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Layout-level; every visual inherits page direction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Concurrent users per AED 100 K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~50–100 (A5 capacity share)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~500–1,500 (App Service Plan share)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P95 chart render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5–15 s cold without pre-warming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≤ 2 s via KpiSnapshotCache + no-tracking projections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Source control · test automation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Binary .pbix; weak git diffs; minimal test tooling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Razor + JS in .NET solution; xUnit + Playwright + CI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DLD IP ownership (RFP §19.1)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Microsoft-owned service surface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Code vests in DLD on payment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760720"/>
            <a:ext cx="11247120" cy="685800"/>
          </a:xfrm>
          <a:prstGeom prst="roundRect">
            <a:avLst>
              <a:gd name="adj" fmla="val 4000"/>
            </a:avLst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Retain Blazor + Chart.js for the External Portal. Power BI stays optional for internal DLD analyst self-service (Pro / PPU tenancy — no A-series capacity).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RFP §5 · REAL ESTATE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Model-agnostic orchestration · RAG ·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212848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212848" cy="73152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65960"/>
            <a:ext cx="18836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E4E37"/>
                </a:solidFill>
                <a:latin typeface="Georgia"/>
              </a:rPr>
              <a:t>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14600"/>
            <a:ext cx="188366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AIOrchestrator routes per-task between provider tiers (nav / analytics / primary / secondary). Warm fallback on provider failure; per-model latency surfaced in Admin/AIModels.razor.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9776" y="1691640"/>
            <a:ext cx="2212848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79776" y="1691640"/>
            <a:ext cx="2212848" cy="73152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965960"/>
            <a:ext cx="18836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E4E37"/>
                </a:solidFill>
                <a:latin typeface="Georgia"/>
              </a:rPr>
              <a:t>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514600"/>
            <a:ext cx="188366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BuildRagContextAsync indexes transactions, project registry, developer profiles, RERA regulations and DLD service pages. Every reply grounded in DLD data — mandatory and model-agnostic.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1691640"/>
            <a:ext cx="2212848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02352" y="1691640"/>
            <a:ext cx="2212848" cy="73152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6944" y="1965960"/>
            <a:ext cx="18836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E4E37"/>
                </a:solidFill>
                <a:latin typeface="Georgia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514600"/>
            <a:ext cx="188366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KeywordAdvisoryGuardrail + regex layer blocks forward-looking price predictions, regulated investment advice. Bilingual refusal copy; original answer logged for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24928" y="1691640"/>
            <a:ext cx="2212848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24928" y="1691640"/>
            <a:ext cx="2212848" cy="73152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1965960"/>
            <a:ext cx="18836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E4E37"/>
                </a:solidFill>
                <a:latin typeface="Georgia"/>
              </a:rPr>
              <a:t>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514600"/>
            <a:ext cx="188366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UserAiMemory + UserConsentService — top-5 zones and top-3 topics prepended after explicit opt-in from Account.razor. Erasure honoured on consent revoke.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47504" y="1691640"/>
            <a:ext cx="2212848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47504" y="1691640"/>
            <a:ext cx="2212848" cy="73152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2096" y="1965960"/>
            <a:ext cx="18836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E4E37"/>
                </a:solidFill>
                <a:latin typeface="Georgia"/>
              </a:rPr>
              <a:t>Multilingual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6" y="2514600"/>
            <a:ext cx="188366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EN + AR conversational support in P1 via locale-aware prompts. ZH · RU · UR · FR · HI · DE extended in P4 via same orchestrator with per-language model selection.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5216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94360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ACCURACY · RESIDENCY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AiAccuracyHarness runs a 14-question seed catalog (EN+AR, data + service-nav + adversarial). All inference routed through UAE-resident endpoints.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RFP §6 · INVESTOR 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Six alert types · three channels · contracted SLAs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557784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Alert types (§6.1)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78024"/>
            <a:ext cx="60000" cy="2286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Price Movement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3317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Per-user 1–25 % threshold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80944"/>
            <a:ext cx="60000" cy="2286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New Project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8346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Watchlist scoped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83864"/>
            <a:ext cx="60000" cy="2286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375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Watchlist Project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3375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Construction / certification change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986784"/>
            <a:ext cx="60000" cy="2286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84048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Rental Yield Threshold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8404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Below / above user band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489704"/>
            <a:ext cx="60000" cy="2286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434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Periodic Market Digest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343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Weekly · monthly · HTML w/ embedded chart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992624"/>
            <a:ext cx="60000" cy="2286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463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Regulation / Policy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8463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552"/>
                </a:solidFill>
                <a:latin typeface="Calibri"/>
              </a:rPr>
              <a:t>From CmsContent + RegulatoryViolation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6916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85623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Channels (§6.2)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240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SmtpEmailSender · branded HTML + chart · HMAC unsubscribe (RFC 8058)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22402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4E37"/>
                </a:solidFill>
                <a:latin typeface="Calibri"/>
              </a:rPr>
              <a:t>≤ 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651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SMS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6517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HttpSmsSender · ≤ 160 chars · shortened 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26517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4E37"/>
                </a:solidFill>
                <a:latin typeface="Calibri"/>
              </a:rPr>
              <a:t>≤ 3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063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A18"/>
                </a:solidFill>
                <a:latin typeface="Calibri"/>
              </a:rPr>
              <a:t>In-platform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063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Notification entity · SignalR hub · bell widget unread badge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3063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E4E37"/>
                </a:solidFill>
                <a:latin typeface="Calibri"/>
              </a:rPr>
              <a:t>instant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703320"/>
            <a:ext cx="548640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886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34340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E4E37"/>
                </a:solidFill>
                <a:latin typeface="Calibri"/>
              </a:rPr>
              <a:t>■  </a:t>
            </a:r>
            <a:r>
              <a:rPr sz="1100">
                <a:solidFill>
                  <a:srgbClr val="4A5552"/>
                </a:solidFill>
                <a:latin typeface="Calibri"/>
              </a:rPr>
              <a:t>InvestorAlertEvaluator runs as a Hangfire job, joining InvestorAlert + WatchlistItem + signal sources.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E4E37"/>
                </a:solidFill>
                <a:latin typeface="Calibri"/>
              </a:rPr>
              <a:t>■  </a:t>
            </a:r>
            <a:r>
              <a:rPr sz="1100">
                <a:solidFill>
                  <a:srgbClr val="4A5552"/>
                </a:solidFill>
                <a:latin typeface="Calibri"/>
              </a:rPr>
              <a:t>AlertDeliveryService dispatches via NotificationRecipientResolver, honouring channel preferences and quiet hours.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E4E37"/>
                </a:solidFill>
                <a:latin typeface="Calibri"/>
              </a:rPr>
              <a:t>■  </a:t>
            </a:r>
            <a:r>
              <a:rPr sz="1100">
                <a:solidFill>
                  <a:srgbClr val="4A5552"/>
                </a:solidFill>
                <a:latin typeface="Calibri"/>
              </a:rPr>
              <a:t>NotificationTemplates centralises HTML / SMS copy; List-Unsubscribe + List-Unsubscribe-Post headers on every send.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E4E37"/>
                </a:solidFill>
                <a:latin typeface="Calibri"/>
              </a:rPr>
              <a:t>■  </a:t>
            </a:r>
            <a:r>
              <a:rPr sz="1100">
                <a:solidFill>
                  <a:srgbClr val="4A5552"/>
                </a:solidFill>
                <a:latin typeface="Calibri"/>
              </a:rPr>
              <a:t>NotificationSlaHealthCheck reports P95 vs RFP budget on /healthz/sla.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RFP §8 · EARLY WARNING RISK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Ten configurable indicators · L1–L4 escalation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694944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4E37"/>
                </a:solidFill>
                <a:latin typeface="Georgia"/>
              </a:rPr>
              <a:t>Ten risk indicators — all thresholds configurable from EwrsDashboard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50592"/>
            <a:ext cx="137160" cy="13716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Project Delivery Delay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786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warning / critical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450592"/>
            <a:ext cx="137160" cy="13716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3317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Escrow Shortfall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5786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warning / critical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27832"/>
            <a:ext cx="137160" cy="13716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Construction Activity Suspension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5584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30 / 60 day threshold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227832"/>
            <a:ext cx="137160" cy="13716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3108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Transaction Volume Decline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35584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vs. 12-mo rolling avg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05072"/>
            <a:ext cx="137160" cy="13716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8862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Zone Price Decline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330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PSF QoQ, min 5 tx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4005072"/>
            <a:ext cx="137160" cy="13716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8862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Developer Score Deterioration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1330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QoQ; &lt;40 escalates 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782312"/>
            <a:ext cx="137160" cy="13716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634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High-Risk Project Concentration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1032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≥3 active w/ open 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4782312"/>
            <a:ext cx="137160" cy="13716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46634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Severe Regulatory Violation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91032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Critical RERA in 90d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559552"/>
            <a:ext cx="137160" cy="13716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4406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AI Anomaly Flag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6875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TimeSeriesAnalyzer z-score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5559552"/>
            <a:ext cx="137160" cy="13716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54406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Data-Feed Anomaly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6875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publication held until 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0" y="1691640"/>
            <a:ext cx="4114800" cy="4663440"/>
          </a:xfrm>
          <a:prstGeom prst="roundRect">
            <a:avLst>
              <a:gd name="adj" fmla="val 4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18745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4E37"/>
                </a:solidFill>
                <a:latin typeface="Georgia"/>
              </a:rPr>
              <a:t>Escalation (§8.2)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63840" y="2331720"/>
            <a:ext cx="594360" cy="640080"/>
          </a:xfrm>
          <a:prstGeom prst="roundRect">
            <a:avLst>
              <a:gd name="adj" fmla="val 15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233172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8A464"/>
                </a:solidFill>
                <a:latin typeface="Georgia"/>
              </a:rPr>
              <a:t>L1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2368296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Project Officer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6517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Email + Platform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172968"/>
            <a:ext cx="594360" cy="640080"/>
          </a:xfrm>
          <a:prstGeom prst="roundRect">
            <a:avLst>
              <a:gd name="adj" fmla="val 15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3172968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8A464"/>
                </a:solidFill>
                <a:latin typeface="Georgia"/>
              </a:rPr>
              <a:t>L2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20954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Section Manager + Director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49300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Email + SMS + Platform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4014216"/>
            <a:ext cx="594360" cy="640080"/>
          </a:xfrm>
          <a:prstGeom prst="roundRect">
            <a:avLst>
              <a:gd name="adj" fmla="val 15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0" y="4014216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8A464"/>
                </a:solidFill>
                <a:latin typeface="Georgia"/>
              </a:rPr>
              <a:t>L3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05079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DG + Deputies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334256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All channels + SMS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63840" y="4855464"/>
            <a:ext cx="594360" cy="640080"/>
          </a:xfrm>
          <a:prstGeom prst="roundRect">
            <a:avLst>
              <a:gd name="adj" fmla="val 15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4855464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8A464"/>
                </a:solidFill>
                <a:latin typeface="Georgia"/>
              </a:rPr>
              <a:t>L4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48920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1A18"/>
                </a:solidFill>
                <a:latin typeface="Calibri"/>
              </a:rPr>
              <a:t>DG + Regulator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517550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All channels + Regulator notice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578815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4A5552"/>
                </a:solidFill>
                <a:latin typeface="Calibri"/>
              </a:rPr>
              <a:t>AlertEscalationService auto-promotes alerts whose SLA window has elapsed (Hangfire every 5 min). Every threshold edit is audited.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RFP §9 + §8.4 · DEVELOPER RATING &amp; ESCROW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Transparent composite score · real-time escrow oversight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557784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Eight scoring criteria (§9.1.1)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50592"/>
            <a:ext cx="50000" cy="2286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A18"/>
                </a:solidFill>
                <a:latin typeface="Calibri"/>
              </a:rPr>
              <a:t>On-Time Project Delivery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317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1">
                <a:solidFill>
                  <a:srgbClr val="8B9491"/>
                </a:solidFill>
                <a:latin typeface="Calibri"/>
              </a:rPr>
              <a:t>ScoringWeight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843784"/>
            <a:ext cx="50000" cy="2286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2491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A18"/>
                </a:solidFill>
                <a:latin typeface="Calibri"/>
              </a:rPr>
              <a:t>Unit Sales Completion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2491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1">
                <a:solidFill>
                  <a:srgbClr val="8B9491"/>
                </a:solidFill>
                <a:latin typeface="Calibri"/>
              </a:rPr>
              <a:t>ScoringWeight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36976"/>
            <a:ext cx="50000" cy="2286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1810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A18"/>
                </a:solidFill>
                <a:latin typeface="Calibri"/>
              </a:rPr>
              <a:t>Escrow Account Health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1810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1">
                <a:solidFill>
                  <a:srgbClr val="8B9491"/>
                </a:solidFill>
                <a:latin typeface="Calibri"/>
              </a:rPr>
              <a:t>ScoringWeight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30168"/>
            <a:ext cx="50000" cy="2286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1129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A18"/>
                </a:solidFill>
                <a:latin typeface="Calibri"/>
              </a:rPr>
              <a:t>Regulatory Compliance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1129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1">
                <a:solidFill>
                  <a:srgbClr val="8B9491"/>
                </a:solidFill>
                <a:latin typeface="Calibri"/>
              </a:rPr>
              <a:t>ScoringWeight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23360"/>
            <a:ext cx="50000" cy="2286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0448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A18"/>
                </a:solidFill>
                <a:latin typeface="Calibri"/>
              </a:rPr>
              <a:t>Customer Complaints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044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1">
                <a:solidFill>
                  <a:srgbClr val="8B9491"/>
                </a:solidFill>
                <a:latin typeface="Calibri"/>
              </a:rPr>
              <a:t>ScoringWeight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416552"/>
            <a:ext cx="50000" cy="2286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2976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A18"/>
                </a:solidFill>
                <a:latin typeface="Calibri"/>
              </a:rPr>
              <a:t>Construction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976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1">
                <a:solidFill>
                  <a:srgbClr val="8B9491"/>
                </a:solidFill>
                <a:latin typeface="Calibri"/>
              </a:rPr>
              <a:t>ScoringWeight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809744"/>
            <a:ext cx="50000" cy="2286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9087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A18"/>
                </a:solidFill>
                <a:latin typeface="Calibri"/>
              </a:rPr>
              <a:t>Financial Stability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908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1">
                <a:solidFill>
                  <a:srgbClr val="8B9491"/>
                </a:solidFill>
                <a:latin typeface="Calibri"/>
              </a:rPr>
              <a:t>ScoringWeight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202936"/>
            <a:ext cx="50000" cy="2286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08406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41A18"/>
                </a:solidFill>
                <a:latin typeface="Calibri"/>
              </a:rPr>
              <a:t>Innovation &amp; Sustainability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08406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1">
                <a:solidFill>
                  <a:srgbClr val="8B9491"/>
                </a:solidFill>
                <a:latin typeface="Calibri"/>
              </a:rPr>
              <a:t>ScoringWeight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7150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4A5552"/>
                </a:solidFill>
                <a:latin typeface="Calibri"/>
              </a:rPr>
              <a:t>All weights adjustable from Admin/DeveloperRating.razor · every change audited with timestamp + approver identity.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69164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Escrow monitoring (§8.4)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3317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4E37"/>
                </a:solidFill>
                <a:latin typeface="Georgia"/>
              </a:rPr>
              <a:t>ESC-001  Real-time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65176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Admin/EscrowMonitoring + EscrowDetail · adequacy ratio + Adequate / Warning / Critical badges.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5204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4E37"/>
                </a:solidFill>
                <a:latin typeface="Georgia"/>
              </a:rPr>
              <a:t>ESC-002  Immutable audit 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84048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EscrowTransaction is append-only · PDF export via InvestorScorecardPdfService · L3 alert on unauthorised discrepancy.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7091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4E37"/>
                </a:solidFill>
                <a:latin typeface="Georgia"/>
              </a:rPr>
              <a:t>ESC-003  Monthly health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2920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EscrowHealthReportService Hangfire job · per-project PDF generated month-end · emailed to assigned officer within 24 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RFP §7 · MULTILINGUAL · 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EN + AR first-class · 6-language extension in P4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572000"/>
                <a:gridCol w="3383280"/>
              </a:tblGrid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Phase 1 (EN + AR)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Phase 4 extension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Internal Platform UI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C — MainLayout · per-page CSS · resources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External Portal UI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C — Public/* pages · RTL · digits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ZH · RU · UR · FR · HI · 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AI Agent (chat)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C — locale-aware prompts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Per-language model selection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Investor alerts (email/SMS)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C — NotificationTemplates locale fields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Extended templates per language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CMS content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C — CmsContent locale fields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Authors add languages on demand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7882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Chart / export labels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C — chart-interop.js + Features/Export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Inherits page locale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26280"/>
            <a:ext cx="548640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26280"/>
            <a:ext cx="73152" cy="178308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63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RTL &amp; i18n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Layout mirroring for AR / UR is baked into MainLayout and the design-system CSS. All translatable copy flows through resource files; no hardcoded strings in Razor markup. AR validation of zone / project / developer names is signed off against DLD official records before go-live.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26280"/>
            <a:ext cx="548640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4526280"/>
            <a:ext cx="73152" cy="178308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663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Currency switcher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029200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CurrencyController + CurrencyRate entity + CurrencyRatesRefreshService feed a header switcher that converts AED to the selected currency. User language and currency preferences are persisted on ApplicationUser and survive navigation and re-login.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RFP §10 + DESC ISR V3 · SECURITY &amp;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Policy catalog · 35 ISR controls mapped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557784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RBAC policy catalog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2377440" cy="365760"/>
          </a:xfrm>
          <a:prstGeom prst="roundRect">
            <a:avLst>
              <a:gd name="adj" fmla="val 30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4E37"/>
                </a:solidFill>
                <a:latin typeface="Calibri"/>
              </a:rPr>
              <a:t>internal.read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4414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Viewer + above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80360"/>
            <a:ext cx="2377440" cy="365760"/>
          </a:xfrm>
          <a:prstGeom prst="roundRect">
            <a:avLst>
              <a:gd name="adj" fmla="val 30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4E37"/>
                </a:solidFill>
                <a:latin typeface="Calibri"/>
              </a:rPr>
              <a:t>internal.edit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443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Operator + above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83280"/>
            <a:ext cx="2377440" cy="365760"/>
          </a:xfrm>
          <a:prstGeom prst="roundRect">
            <a:avLst>
              <a:gd name="adj" fmla="val 30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4E37"/>
                </a:solidFill>
                <a:latin typeface="Calibri"/>
              </a:rPr>
              <a:t>internal.manage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4472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Supervisor + above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86200"/>
            <a:ext cx="2377440" cy="365760"/>
          </a:xfrm>
          <a:prstGeom prst="roundRect">
            <a:avLst>
              <a:gd name="adj" fmla="val 30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4E37"/>
                </a:solidFill>
                <a:latin typeface="Calibri"/>
              </a:rPr>
              <a:t>internal.admin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9502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SystemAdministrator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89120"/>
            <a:ext cx="2377440" cy="365760"/>
          </a:xfrm>
          <a:prstGeom prst="roundRect">
            <a:avLst>
              <a:gd name="adj" fmla="val 30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4E37"/>
                </a:solidFill>
                <a:latin typeface="Calibri"/>
              </a:rPr>
              <a:t>external.investor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4531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RegisteredInvestor + above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377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4A5552"/>
                </a:solidFill>
                <a:latin typeface="Calibri"/>
              </a:rPr>
              <a:t>Cumulative roles — a Supervisor satisfies internal.read, internal.edit and internal.manage. Every controller is decorated with [Authorize(Policy = …)]. Rate limiter enforces Free 60 · Plus 240 · Partner 600 req/min keyed on X-Api-Key.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69164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874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DESC ISR v3 control posture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331720"/>
            <a:ext cx="15849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404872"/>
            <a:ext cx="1584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E4E37"/>
                </a:solidFill>
                <a:latin typeface="Georgia"/>
              </a:rPr>
              <a:t>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108960"/>
            <a:ext cx="158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Implemented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68640" y="2331720"/>
            <a:ext cx="15849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8640" y="2404872"/>
            <a:ext cx="1584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C8A464"/>
                </a:solidFill>
                <a:latin typeface="Georg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108960"/>
            <a:ext cx="158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Partial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45040" y="2331720"/>
            <a:ext cx="15849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45040" y="2404872"/>
            <a:ext cx="1584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7CB99F"/>
                </a:solidFill>
                <a:latin typeface="Georgia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5040" y="3108960"/>
            <a:ext cx="158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Planned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657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4A5552"/>
                </a:solidFill>
                <a:latin typeface="Calibri"/>
              </a:rPr>
              <a:t>Ten domains · 37 controls in Appendix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16052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E4E37"/>
                </a:solidFill>
                <a:latin typeface="Calibri"/>
              </a:rPr>
              <a:t>■  </a:t>
            </a:r>
            <a:r>
              <a:rPr sz="1050">
                <a:solidFill>
                  <a:srgbClr val="4A5552"/>
                </a:solidFill>
                <a:latin typeface="Calibri"/>
              </a:rPr>
              <a:t>JWT (HMAC-SHA256, zero clock-skew) + dual-scheme OIDC (UAE Pass / Azure AD).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0E4E37"/>
                </a:solidFill>
                <a:latin typeface="Calibri"/>
              </a:rPr>
              <a:t>■  </a:t>
            </a:r>
            <a:r>
              <a:rPr sz="1050">
                <a:solidFill>
                  <a:srgbClr val="4A5552"/>
                </a:solidFill>
                <a:latin typeface="Calibri"/>
              </a:rPr>
              <a:t>Append-only AuditLog enforced at DbContext; immutability test in xUnit suite.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0E4E37"/>
                </a:solidFill>
                <a:latin typeface="Calibri"/>
              </a:rPr>
              <a:t>■  </a:t>
            </a:r>
            <a:r>
              <a:rPr sz="1050">
                <a:solidFill>
                  <a:srgbClr val="4A5552"/>
                </a:solidFill>
                <a:latin typeface="Calibri"/>
              </a:rPr>
              <a:t>TLS 1.2+ everywhere · WAF · private endpoints · CORS allow-list (not wildcard).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0E4E37"/>
                </a:solidFill>
                <a:latin typeface="Calibri"/>
              </a:rPr>
              <a:t>■  </a:t>
            </a:r>
            <a:r>
              <a:rPr sz="1050">
                <a:solidFill>
                  <a:srgbClr val="4A5552"/>
                </a:solidFill>
                <a:latin typeface="Calibri"/>
              </a:rPr>
              <a:t>DESC-authorised VAPT scheduled before Phase 3 acceptance.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RFP §11 · HOSTING &amp; 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Three options · UAE-resident · ≤ 4 h RPO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3703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703320" cy="73152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E4E37"/>
                </a:solidFill>
                <a:latin typeface="Georgia"/>
              </a:rPr>
              <a:t>Azure UAE North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Recommended for fastest TTL with built-in BCDR.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94760"/>
            <a:ext cx="3246120" cy="36576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B9491"/>
                </a:solidFill>
                <a:latin typeface="Calibri"/>
              </a:rPr>
              <a:t>CAPEX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148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1A18"/>
                </a:solidFill>
                <a:latin typeface="Calibri"/>
              </a:rPr>
              <a:t>AED 335.5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886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B9491"/>
                </a:solidFill>
                <a:latin typeface="Calibri"/>
              </a:rPr>
              <a:t>ANNUAL OPEX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1148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1A18"/>
                </a:solidFill>
                <a:latin typeface="Calibri"/>
              </a:rPr>
              <a:t>AED 629.2 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691640"/>
            <a:ext cx="3703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691640"/>
            <a:ext cx="3703320" cy="73152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9202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Option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194560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E4E37"/>
                </a:solidFill>
                <a:latin typeface="Georgia"/>
              </a:rPr>
              <a:t>On-Premises (DLD-approved DC)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88036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Preferred for full data-sovereignty assurance.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794760"/>
            <a:ext cx="3246120" cy="36576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886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B9491"/>
                </a:solidFill>
                <a:latin typeface="Calibri"/>
              </a:rPr>
              <a:t>CAPEX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1148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1A18"/>
                </a:solidFill>
                <a:latin typeface="Calibri"/>
              </a:rPr>
              <a:t>AED 1.41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86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B9491"/>
                </a:solidFill>
                <a:latin typeface="Calibri"/>
              </a:rPr>
              <a:t>ANNUAL OPEX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1148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1A18"/>
                </a:solidFill>
                <a:latin typeface="Calibri"/>
              </a:rPr>
              <a:t>AED 686.2 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691640"/>
            <a:ext cx="3703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691640"/>
            <a:ext cx="3703320" cy="73152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9202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Option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194560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E4E37"/>
                </a:solidFill>
                <a:latin typeface="Georgia"/>
              </a:rPr>
              <a:t>Hybrid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88036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Compute on-prem · lakehouse in Azure UAE · site-to-site link.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3794760"/>
            <a:ext cx="3246120" cy="36576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886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B9491"/>
                </a:solidFill>
                <a:latin typeface="Calibri"/>
              </a:rPr>
              <a:t>CAPEX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1148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1A18"/>
                </a:solidFill>
                <a:latin typeface="Calibri"/>
              </a:rPr>
              <a:t>AED 793.5 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3886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B9491"/>
                </a:solidFill>
                <a:latin typeface="Calibri"/>
              </a:rPr>
              <a:t>ANNUAL OPEX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41148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1A18"/>
                </a:solidFill>
                <a:latin typeface="Calibri"/>
              </a:rPr>
              <a:t>AED 654.2 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074920"/>
            <a:ext cx="11247120" cy="1280160"/>
          </a:xfrm>
          <a:prstGeom prst="roundRect">
            <a:avLst>
              <a:gd name="adj" fmla="val 4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2120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4E37"/>
                </a:solidFill>
                <a:latin typeface="Georgia"/>
              </a:rPr>
              <a:t>Mandatory hosting controls (§11.3) — apply to every option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5778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TLS 1.2+ end-to-end  ·  segregated networks for WebAPI vs AdminAPI  ·  WAF in front of WebAPI  ·  private endpoints for SQL · Redis · Storage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BCDR with cross-AZ replicas  ·  RTO ≤ 8 h  ·  RPO ≤ 4 h  ·  geo-redundant backups  ·  slot-swap zero-downtime release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Medallion lakehouse  ·  15-minute freshness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124712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828800" cy="1417320"/>
          </a:xfrm>
          <a:prstGeom prst="rect">
            <a:avLst/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82880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C8A464"/>
                </a:solidFill>
                <a:latin typeface="Georgia"/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7452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Raw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40280"/>
            <a:ext cx="8961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A5552"/>
                </a:solidFill>
                <a:latin typeface="Calibri"/>
              </a:rPr>
              <a:t>DLD source-of-truth registries, escrow bank feeds (signed payload + checksum), RERA regulatory feeds, ESG certifications. No transformations.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46120"/>
            <a:ext cx="1124712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1828800" cy="141732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182880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C8A464"/>
                </a:solidFill>
                <a:latin typeface="Georgia"/>
              </a:rPr>
              <a:t>Silver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2900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Conformed &amp; cleansed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794760"/>
            <a:ext cx="8961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A5552"/>
                </a:solidFill>
                <a:latin typeface="Calibri"/>
              </a:rPr>
              <a:t>Data-quality rules (Great Expectations / dbt tests). Anomalies pause publication and raise a steward acknowledgement task.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00600"/>
            <a:ext cx="1124712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800600"/>
            <a:ext cx="1828800" cy="1417320"/>
          </a:xfrm>
          <a:prstGeom prst="rect">
            <a:avLst/>
          </a:prstGeom>
          <a:solidFill>
            <a:srgbClr val="7CB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182880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C8A464"/>
                </a:solidFill>
                <a:latin typeface="Georgia"/>
              </a:rPr>
              <a:t>Gold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98348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Business-ready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349240"/>
            <a:ext cx="8961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A5552"/>
                </a:solidFill>
                <a:latin typeface="Calibri"/>
              </a:rPr>
              <a:t>EF Core 9 reads the gold layer for transactional UI. Hot KPIs synchronised into the OLTP store every 15 min by Hangfire.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8B9491"/>
                </a:solidFill>
                <a:latin typeface="Calibri"/>
              </a:rPr>
              <a:t>KpiSnapshotRefreshService · BenchmarkRefreshService · CurrencyRatesRefreshService — three Hangfire workers keep the gold-layer warm.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PHASED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Four phases · 4 months · acceptance-gated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91440" cy="105156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371600" cy="713232"/>
          </a:xfrm>
          <a:prstGeom prst="roundRect">
            <a:avLst>
              <a:gd name="adj" fmla="val 15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8A464"/>
                </a:solidFill>
                <a:latin typeface="Georgia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Month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856232"/>
            <a:ext cx="9235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A5552"/>
                </a:solidFill>
                <a:latin typeface="Calibri"/>
              </a:rPr>
              <a:t>External Public Portal (CMS · Dashboard · Transactions · Map · Indices · Analytics · AI Agent EN/AR) · Open Data API + Developer Portal · Investor Notifications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1124712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91440" cy="1051560"/>
          </a:xfrm>
          <a:prstGeom prst="rect">
            <a:avLst/>
          </a:prstGeom>
          <a:solidFill>
            <a:srgbClr val="7CB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971800"/>
            <a:ext cx="1371600" cy="713232"/>
          </a:xfrm>
          <a:prstGeom prst="roundRect">
            <a:avLst>
              <a:gd name="adj" fmla="val 15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8A464"/>
                </a:solidFill>
                <a:latin typeface="Georgia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Month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999232"/>
            <a:ext cx="9235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A5552"/>
                </a:solidFill>
                <a:latin typeface="Calibri"/>
              </a:rPr>
              <a:t>Investor Watchlist v2 · ESG indicators · GRETI sub-index closure · performance hardening (Redis · OpenTelemetry · load-test sign-off)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1124712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91440" cy="105156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4114800"/>
            <a:ext cx="1371600" cy="713232"/>
          </a:xfrm>
          <a:prstGeom prst="roundRect">
            <a:avLst>
              <a:gd name="adj" fmla="val 15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8A464"/>
                </a:solidFill>
                <a:latin typeface="Georgia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34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Month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142232"/>
            <a:ext cx="9235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A5552"/>
                </a:solidFill>
                <a:latin typeface="Calibri"/>
              </a:rPr>
              <a:t>Internal Platform — EWRS · Developer Rating · Escrow Monitoring · Beneficial Ownership · Mortgage analytics · DESC-authorised VAPT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74920"/>
            <a:ext cx="1124712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074920"/>
            <a:ext cx="91440" cy="1051560"/>
          </a:xfrm>
          <a:prstGeom prst="rect">
            <a:avLst/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5257800"/>
            <a:ext cx="1371600" cy="713232"/>
          </a:xfrm>
          <a:prstGeom prst="roundRect">
            <a:avLst>
              <a:gd name="adj" fmla="val 15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25780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8A464"/>
                </a:solidFill>
                <a:latin typeface="Georgia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577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Month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285232"/>
            <a:ext cx="9235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4A5552"/>
                </a:solidFill>
                <a:latin typeface="Calibri"/>
              </a:rPr>
              <a:t>Multilingual extension (ZH · RU · UR · FR · HI · DE) · AI Agent extended languages · advanced analytics · final UAT and 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355080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8B9491"/>
                </a:solidFill>
                <a:latin typeface="Calibri"/>
              </a:rPr>
              <a:t>Each month exits with a §17.3 UAT bar — functional · performance · security · accessibility · language/RTL. Possible only because the codebase already covers ~88% of the RFP scope.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RESPONSIBILITY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DLD · Vendor · Partner — role per programme activity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78638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914400"/>
                <a:gridCol w="914400"/>
                <a:gridCol w="914400"/>
              </a:tblGrid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DLD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Vendor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Partner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Programme governance &amp; steering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Solution architecture &amp; design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Application development (.NET 9 · Blazor · CQRS)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Infrastructure provisioning &amp; hosting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Data discovery, migration &amp; lakehouse build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AI / RAG pipeline &amp; guardrails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Security hardening · DESC ISR v3 · VAPT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QA · test execution · UAT facilitation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Acceptance sign-off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3990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41A18"/>
                          </a:solidFill>
                          <a:latin typeface="Calibri"/>
                        </a:rPr>
                        <a:t>Post-go-live operations, support &amp; SLA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41A18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03920" y="1691640"/>
            <a:ext cx="3200400" cy="4389120"/>
          </a:xfrm>
          <a:prstGeom prst="roundRect">
            <a:avLst>
              <a:gd name="adj" fmla="val 4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8745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Legend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331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2350008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Lead — primary executor and owner of the deliverable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B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3246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3264408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Support — contributes effort, expertise or sign-off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4160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4160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4178808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Approver — formal sign-off authority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5074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5074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5093208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552"/>
                </a:solidFill>
                <a:latin typeface="Calibri"/>
              </a:rPr>
              <a:t>Informed — kept in the loop, no decision authority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B9491"/>
                </a:solidFill>
                <a:latin typeface="Calibri"/>
              </a:rPr>
              <a:t>VAPT is executed by a DESC-approved third-party firm engaged by the Vendor; results are reviewed jointly with DLD before Phase 3 sign-off.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QUALITY POSTURE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Operational schedule · forward QA plan · observability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807208" cy="1280160"/>
          </a:xfrm>
          <a:prstGeom prst="roundRect">
            <a:avLst>
              <a:gd name="adj" fmla="val 6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280720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C8A464"/>
                </a:solidFill>
                <a:latin typeface="Georgia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441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7CB99F"/>
                </a:solidFill>
                <a:latin typeface="Calibri"/>
              </a:rPr>
              <a:t>Hangfire recurring jobs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91640"/>
            <a:ext cx="2807208" cy="1280160"/>
          </a:xfrm>
          <a:prstGeom prst="roundRect">
            <a:avLst>
              <a:gd name="adj" fmla="val 6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874520"/>
            <a:ext cx="280720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C8A464"/>
                </a:solidFill>
                <a:latin typeface="Georgia"/>
              </a:rPr>
              <a:t>P95 ≤ 2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560320"/>
            <a:ext cx="2441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7CB99F"/>
                </a:solidFill>
                <a:latin typeface="Calibri"/>
              </a:rPr>
              <a:t>chart render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2807208" cy="1280160"/>
          </a:xfrm>
          <a:prstGeom prst="roundRect">
            <a:avLst>
              <a:gd name="adj" fmla="val 6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20"/>
            <a:ext cx="280720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C8A464"/>
                </a:solidFill>
                <a:latin typeface="Georgia"/>
              </a:rPr>
              <a:t>P95 ≤ 15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2441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7CB99F"/>
                </a:solidFill>
                <a:latin typeface="Calibri"/>
              </a:rPr>
              <a:t>AI agent response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91640"/>
            <a:ext cx="2807208" cy="1280160"/>
          </a:xfrm>
          <a:prstGeom prst="roundRect">
            <a:avLst>
              <a:gd name="adj" fmla="val 6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874520"/>
            <a:ext cx="280720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C8A464"/>
                </a:solidFill>
                <a:latin typeface="Georgia"/>
              </a:rPr>
              <a:t>/healthz/sla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560320"/>
            <a:ext cx="2441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7CB99F"/>
                </a:solidFill>
                <a:latin typeface="Calibri"/>
              </a:rPr>
              <a:t>aggregated SLO health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46120"/>
            <a:ext cx="676656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Hangfire schedule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3794760"/>
          <a:ext cx="64008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94560"/>
              </a:tblGrid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Cadence</a:t>
                      </a:r>
                    </a:p>
                  </a:txBody>
                  <a:tcPr marL="91440" marR="91440" marT="45720" marB="45720">
                    <a:solidFill>
                      <a:srgbClr val="0E4E37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RiskEngineService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every hour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DeveloperScoringService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nightly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AlertDeliveryService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every minute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AlertEscalationService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every 5 minutes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KpiSnapshotRefreshService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every 15 minutes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InvestorAlertEvaluator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every 10 minutes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EscrowHealthReportService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month-end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BenchmarkRefreshService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hourly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41A18"/>
                          </a:solidFill>
                          <a:latin typeface="Calibri"/>
                        </a:rPr>
                        <a:t>CurrencyRatesRefreshService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41A18"/>
                          </a:solidFill>
                          <a:latin typeface="Calibri"/>
                        </a:rPr>
                        <a:t>hourly</a:t>
                      </a:r>
                    </a:p>
                  </a:txBody>
                  <a:tcPr marL="91440" marR="91440" marT="45720" marB="45720">
                    <a:solidFill>
                      <a:srgbClr val="E6F1EB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406640" y="3246120"/>
            <a:ext cx="4297680" cy="3063240"/>
          </a:xfrm>
          <a:prstGeom prst="roundRect">
            <a:avLst>
              <a:gd name="adj" fmla="val 4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33832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4E37"/>
                </a:solidFill>
                <a:latin typeface="Georgia"/>
              </a:rPr>
              <a:t>Test strategy across the 4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8404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1A18"/>
                </a:solidFill>
                <a:latin typeface="Calibri"/>
              </a:rPr>
              <a:t>Unit (xUnit)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8404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per CQRS handler and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13308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1A18"/>
                </a:solidFill>
                <a:latin typeface="Calibri"/>
              </a:rPr>
              <a:t>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13308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per controller against EF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425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1A18"/>
                </a:solidFill>
                <a:latin typeface="Calibri"/>
              </a:rPr>
              <a:t>End-to-end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425696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Playwright on the critical journeys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1830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1A18"/>
                </a:solidFill>
                <a:latin typeface="Calibri"/>
              </a:rPr>
              <a:t>Load · 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71830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k6 / NBomber to P95 sign-off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50109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1A18"/>
                </a:solidFill>
                <a:latin typeface="Calibri"/>
              </a:rPr>
              <a:t>Security · VAPT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501091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OWASP ZAP + DESC-authorised VAPT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53035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1A18"/>
                </a:solidFill>
                <a:latin typeface="Calibri"/>
              </a:rPr>
              <a:t>Accessibility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53035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axe-core scan per release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55961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1A18"/>
                </a:solidFill>
                <a:latin typeface="Calibri"/>
              </a:rPr>
              <a:t>Data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559612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Great Expectations / dbt-tests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588873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41A18"/>
                </a:solidFill>
                <a:latin typeface="Calibri"/>
              </a:rPr>
              <a:t>Language &amp; RTL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5888736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native-speaker review per locale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VENDOR COMMITMENTS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15 improvements · committed within the 4-month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8B9491"/>
                </a:solidFill>
                <a:latin typeface="Calibri"/>
              </a:rPr>
              <a:t>Two items below are already shipped (VC-6 SignalR hub, VC-14 Dockerfiles + CI base); the remaining 13 are committed within the Phase 1 hardening scope.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0573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573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933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MediatR ValidationBehavior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677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Auto-runs every FluentValidation validator.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8745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16552" y="20573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20573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19933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Global IExceptionHandler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2677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RFC 7807 ProblemDetails contract.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18745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38744" y="20573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0573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19933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Distributed cache via Redis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22677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ICacheableQuery + CachingBehavior.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7889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" y="29717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9717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9077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Domain event dispatcher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1821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Decouples audit / notify / SignalR.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27889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16552" y="29717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6552" y="29717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29077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Notification outbox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31821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At-least-once on SMTP/SMS failure.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4" y="27889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38744" y="29717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38744" y="29717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24544" y="29077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SignalR notification 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4544" y="31821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Already shipped — bell updates push.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7033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94360" y="38861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8861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8221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AI streaming over SSE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0965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IAsyncEnumerable&lt;string&gt; tokens.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79392" y="37033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16552" y="38861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38861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2352" y="38221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Polly resilience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02352" y="40965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AddStandardResilienceHandler() on every HttpClient.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01584" y="37033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238744" y="38861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38744" y="38861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24544" y="38221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Hangfire idempotency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24544" y="40965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Fingerprints prevent double-execution.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6177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94360" y="48005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48005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47365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OpenTelemetry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" y="50109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OTLP traces · metrics · logs.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79392" y="46177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416552" y="48005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16552" y="48005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02352" y="47365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/healthz + /readyz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02352" y="50109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Liveness + readiness probes.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01584" y="46177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238744" y="48005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38744" y="48005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24544" y="47365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Tighter CORS + CSP + HSTS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24544" y="50109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Replaces AllowAnyOrigin.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55321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94360" y="57149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4360" y="57149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0160" y="56509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Architecture tests (NetArchTest)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80160" y="59253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Layer-dependency assertions.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79392" y="55321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416552" y="57149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16552" y="57149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VC-14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02352" y="56509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Dockerfiles + CI/CD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02352" y="59253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Already shipped — multi-stage builds.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01584" y="5532119"/>
            <a:ext cx="370332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238744" y="5714999"/>
            <a:ext cx="594360" cy="457200"/>
          </a:xfrm>
          <a:prstGeom prst="roundRect">
            <a:avLst>
              <a:gd name="adj" fmla="val 20000"/>
            </a:avLst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38744" y="5714999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VC-15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24544" y="565099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1A18"/>
                </a:solidFill>
                <a:latin typeface="Calibri"/>
              </a:rPr>
              <a:t>Resource-based authorisation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24544" y="5925311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A5552"/>
                </a:solidFill>
                <a:latin typeface="Calibri"/>
              </a:rPr>
              <a:t>Investor sees own data only.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A464"/>
                </a:solidFill>
                <a:latin typeface="Calibri"/>
              </a:rPr>
              <a:t>CROSS-CHECK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E4E37"/>
                </a:solidFill>
                <a:latin typeface="Georgia"/>
              </a:rPr>
              <a:t>Reports vs. src/ — full reconciliation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5760720" cy="4572000"/>
          </a:xfrm>
          <a:prstGeom prst="roundRect">
            <a:avLst>
              <a:gd name="adj" fmla="val 4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Confirmed against the codebase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5303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E4E37"/>
                </a:solidFill>
                <a:latin typeface="Calibri"/>
              </a:rPr>
              <a:t>■  </a:t>
            </a:r>
            <a:r>
              <a:rPr sz="1100">
                <a:solidFill>
                  <a:srgbClr val="4A5552"/>
                </a:solidFill>
                <a:latin typeface="Calibri"/>
              </a:rPr>
              <a:t>All ~30 Domain entities (Transaction, Project, EscrowAccount, RiskAlert, ScoringWeight, UserAiMemory, SavedAnalyticsView, …) exist at the cited paths.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E4E37"/>
                </a:solidFill>
                <a:latin typeface="Calibri"/>
              </a:rPr>
              <a:t>■  </a:t>
            </a:r>
            <a:r>
              <a:rPr sz="1100">
                <a:solidFill>
                  <a:srgbClr val="4A5552"/>
                </a:solidFill>
                <a:latin typeface="Calibri"/>
              </a:rPr>
              <a:t>Every Application/Features/* folder named in the proposal exists with the matching Commands and Queries.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E4E37"/>
                </a:solidFill>
                <a:latin typeface="Calibri"/>
              </a:rPr>
              <a:t>■  </a:t>
            </a:r>
            <a:r>
              <a:rPr sz="1100">
                <a:solidFill>
                  <a:srgbClr val="4A5552"/>
                </a:solidFill>
                <a:latin typeface="Calibri"/>
              </a:rPr>
              <a:t>All Razor pages cited (~23 public + 11 admin) and all controllers (20 in WebAPI · 8 in AdminAPI) match the reports.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E4E37"/>
                </a:solidFill>
                <a:latin typeface="Calibri"/>
              </a:rPr>
              <a:t>■  </a:t>
            </a:r>
            <a:r>
              <a:rPr sz="1100">
                <a:solidFill>
                  <a:srgbClr val="4A5552"/>
                </a:solidFill>
                <a:latin typeface="Calibri"/>
              </a:rPr>
              <a:t>AuthorizationPolicies publishes internal.read/edit/manage/admin + external.investor exactly as Appendix A claims.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E4E37"/>
                </a:solidFill>
                <a:latin typeface="Calibri"/>
              </a:rPr>
              <a:t>■  </a:t>
            </a:r>
            <a:r>
              <a:rPr sz="1100">
                <a:solidFill>
                  <a:srgbClr val="4A5552"/>
                </a:solidFill>
                <a:latin typeface="Calibri"/>
              </a:rPr>
              <a:t>Rate limiter, ApiKey middleware path, JWT + OIDC dual scheme, MFA flow, unsubscribe + erasure — all verified in code.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E4E37"/>
                </a:solidFill>
                <a:latin typeface="Calibri"/>
              </a:rPr>
              <a:t>■  </a:t>
            </a:r>
            <a:r>
              <a:rPr sz="1100">
                <a:solidFill>
                  <a:srgbClr val="4A5552"/>
                </a:solidFill>
                <a:latin typeface="Calibri"/>
              </a:rPr>
              <a:t>0 build warnings · 9 Hangfire jobs registered · /healthz/sla aggregates AI · KPI · notifications.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91640"/>
            <a:ext cx="73152" cy="45720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7451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4E37"/>
                </a:solidFill>
                <a:latin typeface="Georgia"/>
              </a:rPr>
              <a:t>Two clarifications to roll into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317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8A464"/>
                </a:solidFill>
                <a:latin typeface="Calibri"/>
              </a:rPr>
              <a:t>1.  Target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70048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Tech Proposal §11 and Compliance Matrix §11.1 state .NET 8. Every .csproj targets net9.0 today. Update both reports to .NET 9 / ASP.NET Core 9 for the final submission.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3886200"/>
            <a:ext cx="4846320" cy="9525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0690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8A464"/>
                </a:solidFill>
                <a:latin typeface="Calibri"/>
              </a:rPr>
              <a:t>2.  Vendor commitment VC-6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407408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5552"/>
                </a:solidFill>
                <a:latin typeface="Calibri"/>
              </a:rPr>
              <a:t>SignalR notification hub is listed as 'E — vendor commitment' but NotificationHub.cs and SignalRNotificationBroadcaster.cs are already wired in WebAPI. Re-classify as C (compliant today) and keep the broader resilience-stack commitments where they 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491"/>
                </a:solidFill>
                <a:latin typeface="Calibr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A464"/>
                </a:solidFill>
                <a:latin typeface="Calibri"/>
              </a:rPr>
              <a:t>VENDOR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Georgia"/>
              </a:rPr>
              <a:t>Ready to deliver IRETP</a:t>
            </a:r>
          </a:p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Georgia"/>
              </a:rPr>
              <a:t>on the terms above.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6F1EB"/>
                </a:solidFill>
                <a:latin typeface="Calibri"/>
              </a:rPr>
              <a:t>Every RFP clause maps to a live module in the repository. The Compliance Matrix gives a clause-by-clause traceability statement, the DESC ISR v3 Appendix is the pre-VAPT self-assessment, and the Financial Proposal is phase-gated and pay-on-acceptance.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6F1EB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6F1EB"/>
                </a:solidFill>
                <a:latin typeface="Calibri"/>
              </a:rPr>
              <a:t>The two clarifications surfaced in this deck — .NET 9 and VC-6 already shipped — will be folded into the v2 submission.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8A464"/>
                </a:solidFill>
                <a:latin typeface="Calibri"/>
              </a:rPr>
              <a:t>DLD-IRETP-2026-001  ·  Integrated Real Estate Transparency Platform  ·  Technical Presentation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63525"/>
                </a:solidFill>
                <a:latin typeface="Calibri"/>
              </a:rP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A6C64"/>
                </a:solidFill>
                <a:latin typeface="Calibri"/>
              </a:rPr>
              <a:t>Runtime topology · request flow · UAE-resident perimeter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144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A6C64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232" y="6528816"/>
            <a:ext cx="822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A6C64"/>
                </a:solidFill>
                <a:latin typeface="Calibri"/>
              </a:rPr>
              <a:t>25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2743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C64"/>
                </a:solidFill>
                <a:latin typeface="Calibri"/>
              </a:rPr>
              <a:t>CLIENTS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63525"/>
                </a:solidFill>
                <a:latin typeface="Calibri"/>
              </a:rPr>
              <a:t>Investors · DLD Staff · 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A6C64"/>
                </a:solidFill>
                <a:latin typeface="Calibri"/>
              </a:rPr>
              <a:t>Browser (Blazor)  ·  Mobile Web</a:t>
            </a:r>
          </a:p>
          <a:p>
            <a:pPr algn="ctr"/>
            <a:r>
              <a:rPr sz="900" b="0" i="0">
                <a:solidFill>
                  <a:srgbClr val="5A6C64"/>
                </a:solidFill>
                <a:latin typeface="Calibri"/>
              </a:rPr>
              <a:t>Public API consumers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286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C64"/>
                </a:solidFill>
                <a:latin typeface="Calibri"/>
              </a:rPr>
              <a:t>EDGE &amp;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920240"/>
            <a:ext cx="2286000" cy="777240"/>
          </a:xfrm>
          <a:prstGeom prst="rect">
            <a:avLst/>
          </a:prstGeom>
          <a:solidFill>
            <a:srgbClr val="E6F1EB"/>
          </a:solidFill>
          <a:ln w="9525"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938528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63525"/>
                </a:solidFill>
                <a:latin typeface="Calibri"/>
              </a:rPr>
              <a:t>Front Door + WAF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12848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A6C64"/>
                </a:solidFill>
                <a:latin typeface="Calibri"/>
              </a:rPr>
              <a:t>OWASP rules · DDoS L7</a:t>
            </a:r>
          </a:p>
          <a:p>
            <a:pPr algn="ctr"/>
            <a:r>
              <a:rPr sz="900" b="0" i="0">
                <a:solidFill>
                  <a:srgbClr val="5A6C64"/>
                </a:solidFill>
                <a:latin typeface="Calibri"/>
              </a:rPr>
              <a:t>TLS 1.2+  ·  geo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45920"/>
            <a:ext cx="2286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C64"/>
                </a:solidFill>
                <a:latin typeface="Calibri"/>
              </a:rPr>
              <a:t>IDENTITY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920240"/>
            <a:ext cx="2286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63525"/>
                </a:solidFill>
                <a:latin typeface="Calibri"/>
              </a:rPr>
              <a:t>OIDC + JWT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212848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A6C64"/>
                </a:solidFill>
                <a:latin typeface="Calibri"/>
              </a:rPr>
              <a:t>ASP.NET Identity · TOTP MFA</a:t>
            </a:r>
          </a:p>
          <a:p>
            <a:pPr algn="ctr"/>
            <a:r>
              <a:rPr sz="900" b="0" i="0">
                <a:solidFill>
                  <a:srgbClr val="5A6C64"/>
                </a:solidFill>
                <a:latin typeface="Calibri"/>
              </a:rPr>
              <a:t>UAE PASS-ready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645920"/>
            <a:ext cx="3017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C64"/>
                </a:solidFill>
                <a:latin typeface="Calibri"/>
              </a:rPr>
              <a:t>OBSERVABILITY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1920240"/>
            <a:ext cx="3017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1938528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63525"/>
                </a:solidFill>
                <a:latin typeface="Calibri"/>
              </a:rPr>
              <a:t>App Insights · Log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212848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A6C64"/>
                </a:solidFill>
                <a:latin typeface="Calibri"/>
              </a:rPr>
              <a:t>SLO health · /healthz/sla</a:t>
            </a:r>
          </a:p>
          <a:p>
            <a:pPr algn="ctr"/>
            <a:r>
              <a:rPr sz="900" b="0" i="0">
                <a:solidFill>
                  <a:srgbClr val="5A6C64"/>
                </a:solidFill>
                <a:latin typeface="Calibri"/>
              </a:rPr>
              <a:t>Audit trail (append-only)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51760"/>
            <a:ext cx="112471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APPLICATION HOSTS  ·  ASP.NET Core (.NET 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80360"/>
            <a:ext cx="3749039" cy="64008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880360"/>
            <a:ext cx="3749039" cy="96012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999232"/>
            <a:ext cx="3383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IRETP.Web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291840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Blazor Server portal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54787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E6F1EB"/>
                </a:solidFill>
                <a:latin typeface="Calibri"/>
              </a:rPr>
              <a:t>Public + Admin Razor pages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880360"/>
            <a:ext cx="3749039" cy="64008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2880360"/>
            <a:ext cx="3749039" cy="96012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2999232"/>
            <a:ext cx="3383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IRETP.WebAPI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291840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Public + Investor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54787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E6F1EB"/>
                </a:solidFill>
                <a:latin typeface="Calibri"/>
              </a:rPr>
              <a:t>JWT · rate-limited · /v1/open-data/*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2880360"/>
            <a:ext cx="3749039" cy="64008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79" y="2880360"/>
            <a:ext cx="3749039" cy="960120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59" y="2999232"/>
            <a:ext cx="3383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IRETP.AdminAPI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59" y="3291840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Internal DLD operations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59" y="3547872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E6F1EB"/>
                </a:solidFill>
                <a:latin typeface="Calibri"/>
              </a:rPr>
              <a:t>EWRS · Escrow · Rating · private network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977639"/>
            <a:ext cx="11247120" cy="777240"/>
          </a:xfrm>
          <a:prstGeom prst="rect">
            <a:avLst/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050791"/>
            <a:ext cx="108813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IRETP.Application  ·  CQRS via MediatR  ·  Feature folders (AIAgent · Alerts · Analytics · EWRS · Escrow · Map · Transactions · …)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3251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82A22"/>
                </a:solidFill>
                <a:latin typeface="Calibri"/>
              </a:rPr>
              <a:t>IRETP.Domain  ·  DDD entities + enums  ·  Transaction · Project · EscrowAccount · RiskAlert · ScoringWeight · BeneficialOwner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92040"/>
            <a:ext cx="112471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INFRASTRUCTURE  ·  IRETP.Infrastructure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166359"/>
            <a:ext cx="1828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166359"/>
            <a:ext cx="1828800" cy="5486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257800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SQL Server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495544"/>
            <a:ext cx="18288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5A6C64"/>
                </a:solidFill>
                <a:latin typeface="Calibri"/>
              </a:rPr>
              <a:t>OLTP store · EF Core 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31720" y="5166359"/>
            <a:ext cx="1828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31720" y="5166359"/>
            <a:ext cx="1828800" cy="5486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31720" y="5257800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OneLake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5495544"/>
            <a:ext cx="18288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5A6C64"/>
                </a:solidFill>
                <a:latin typeface="Calibri"/>
              </a:rPr>
              <a:t>Lakehouse · open 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5166359"/>
            <a:ext cx="1828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06240" y="5166359"/>
            <a:ext cx="1828800" cy="5486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0" y="5257800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Hangfire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0" y="5495544"/>
            <a:ext cx="18288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5A6C64"/>
                </a:solidFill>
                <a:latin typeface="Calibri"/>
              </a:rPr>
              <a:t>Background jobs · SLA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0760" y="5166359"/>
            <a:ext cx="1828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80760" y="5166359"/>
            <a:ext cx="1828800" cy="5486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5257800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AI Orchestr.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80760" y="5495544"/>
            <a:ext cx="18288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5A6C64"/>
                </a:solidFill>
                <a:latin typeface="Calibri"/>
              </a:rPr>
              <a:t>UAE-resident LLM tiers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79" y="5166359"/>
            <a:ext cx="1828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55279" y="5166359"/>
            <a:ext cx="1828800" cy="5486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55279" y="5257800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Key Vault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79" y="5495544"/>
            <a:ext cx="18288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5A6C64"/>
                </a:solidFill>
                <a:latin typeface="Calibri"/>
              </a:rPr>
              <a:t>Secrets · MSI · rotation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29800" y="5166359"/>
            <a:ext cx="1828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7CB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829800" y="5166359"/>
            <a:ext cx="1828800" cy="5486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29800" y="5257800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Blob (GRS)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9800" y="5495544"/>
            <a:ext cx="18288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5A6C64"/>
                </a:solidFill>
                <a:latin typeface="Calibri"/>
              </a:rPr>
              <a:t>CMS · exports · backups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852160"/>
            <a:ext cx="11247120" cy="566928"/>
          </a:xfrm>
          <a:prstGeom prst="rect">
            <a:avLst/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5907024"/>
            <a:ext cx="10881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8A464"/>
                </a:solidFill>
                <a:latin typeface="Calibri"/>
              </a:rPr>
              <a:t>UAE-RESIDENT PERIMETER  ·  TLS 1.2+ end-to-end  ·  Managed Identity everywhere  ·  No cross-border data flow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6144768"/>
            <a:ext cx="10881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Healthz · /healthz/live · /healthz/ready · /healthz/sla   |   RTO &lt; 4 h · RPO &lt; 1 h   |   DESC ISR v3 controls mapped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63525"/>
                </a:solidFill>
                <a:latin typeface="Calibri"/>
              </a:rPr>
              <a:t>COMPLIANCE LIST ACKNOWLEDGEMENT (CLA)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A6C64"/>
                </a:solidFill>
                <a:latin typeface="Calibri"/>
              </a:rPr>
              <a:t>Per-section compliance status against RFP DLD-IRETP-2026-001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144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A6C64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232" y="6528816"/>
            <a:ext cx="822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A6C64"/>
                </a:solidFill>
                <a:latin typeface="Calibri"/>
              </a:rPr>
              <a:t>26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097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C64"/>
                </a:solidFill>
                <a:latin typeface="Calibri"/>
              </a:rPr>
              <a:t>Legend: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35608"/>
            <a:ext cx="310896" cy="201168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35608"/>
            <a:ext cx="310896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417320"/>
            <a:ext cx="1417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Full Compliance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435608"/>
            <a:ext cx="310896" cy="201168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435608"/>
            <a:ext cx="310896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063525"/>
                </a:solidFill>
                <a:latin typeface="Calibri"/>
              </a:rPr>
              <a:t>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417320"/>
            <a:ext cx="1417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Partial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435608"/>
            <a:ext cx="310896" cy="201168"/>
          </a:xfrm>
          <a:prstGeom prst="rect">
            <a:avLst/>
          </a:prstGeom>
          <a:solidFill>
            <a:srgbClr val="B0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435608"/>
            <a:ext cx="310896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417320"/>
            <a:ext cx="1417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Non-Compliance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83080"/>
            <a:ext cx="11247120" cy="347472"/>
          </a:xfrm>
          <a:prstGeom prst="rect">
            <a:avLst/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837943"/>
            <a:ext cx="685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C8A464"/>
                </a:solidFill>
                <a:latin typeface="Calibri"/>
              </a:rPr>
              <a:t>RFP 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1837943"/>
            <a:ext cx="283463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C8A464"/>
                </a:solidFill>
                <a:latin typeface="Calibri"/>
              </a:rPr>
              <a:t>Section Title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837943"/>
            <a:ext cx="8229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C8A464"/>
                </a:solidFill>
                <a:latin typeface="Calibri"/>
              </a:rPr>
              <a:t># Reqs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79" y="1837943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C8A464"/>
                </a:solidFill>
                <a:latin typeface="Calibri"/>
              </a:rP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1837943"/>
            <a:ext cx="5074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C8A464"/>
                </a:solidFill>
                <a:latin typeface="Calibri"/>
              </a:rPr>
              <a:t>Evidence / Notes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30552"/>
            <a:ext cx="11247120" cy="274320"/>
          </a:xfrm>
          <a:prstGeom prst="rect">
            <a:avLst/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30552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§3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2130552"/>
            <a:ext cx="2834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External Public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1305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182A22"/>
                </a:solidFill>
                <a:latin typeface="Calibri"/>
              </a:rPr>
              <a:t>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59" y="2167128"/>
            <a:ext cx="548640" cy="201168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59" y="216712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2130552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Blazor Server pages live · CMS · bilingual · KPI 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404872"/>
            <a:ext cx="112471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404872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§4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2404872"/>
            <a:ext cx="2834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Slice-and-Dice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240487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182A22"/>
                </a:solidFill>
                <a:latin typeface="Calibri"/>
              </a:rP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59" y="2441448"/>
            <a:ext cx="548640" cy="201168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59" y="244144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2404872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Saved views (cap 12) · 4 FR-004 charts · Zone Compare (≤5)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679191"/>
            <a:ext cx="11247120" cy="274320"/>
          </a:xfrm>
          <a:prstGeom prst="rect">
            <a:avLst/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2679191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§5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2679191"/>
            <a:ext cx="2834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Real Estate AI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2679191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182A22"/>
                </a:solidFill>
                <a:latin typeface="Calibri"/>
              </a:rPr>
              <a:t>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59" y="2715768"/>
            <a:ext cx="548640" cy="201168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59" y="2715768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59" y="2679191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UAE-resident · multi-model tier routing · advisory guardrail · 14-case harness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953511"/>
            <a:ext cx="112471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2953511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§6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2953511"/>
            <a:ext cx="2834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Investor Notifications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2953511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182A22"/>
                </a:solidFill>
                <a:latin typeface="Calibri"/>
              </a:rP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23559" y="2990087"/>
            <a:ext cx="548640" cy="201168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23559" y="2990087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59" y="2953511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Email/SMS/in-platform · SLA probe · HMAC unsubscribe · List-Unsubscribe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227831"/>
            <a:ext cx="11247120" cy="274320"/>
          </a:xfrm>
          <a:prstGeom prst="rect">
            <a:avLst/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227831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§7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20" y="3227831"/>
            <a:ext cx="2834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Multilingual EN/AR + Currency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3227831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182A22"/>
                </a:solidFill>
                <a:latin typeface="Calibri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23559" y="3264407"/>
            <a:ext cx="548640" cy="201168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23559" y="3264407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7959" y="3227831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RTL parity · Phase-4 ZH/RU/UR/FR/HI/DE roadmap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3502151"/>
            <a:ext cx="112471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3502151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§8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17320" y="3502151"/>
            <a:ext cx="2834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Early Warning Risk System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4840" y="3502151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182A22"/>
                </a:solidFill>
                <a:latin typeface="Calibri"/>
              </a:rPr>
              <a:t>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23559" y="3538727"/>
            <a:ext cx="548640" cy="201168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23559" y="3538727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59" y="3502151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10 indicators · 4-level auto-escalation · threshold-driven · admin override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776471"/>
            <a:ext cx="11247120" cy="274320"/>
          </a:xfrm>
          <a:prstGeom prst="rect">
            <a:avLst/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3776471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§9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17320" y="3776471"/>
            <a:ext cx="2834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Developer Rating &amp; Escrow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34840" y="3776471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182A22"/>
                </a:solidFill>
                <a:latin typeface="Calibri"/>
              </a:rPr>
              <a:t>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23559" y="3813047"/>
            <a:ext cx="548640" cy="201168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23559" y="3813047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7959" y="3776471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Public scorecards · §8.4 escrow monitor · weighted composite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050791"/>
            <a:ext cx="112471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4050791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§10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17320" y="4050791"/>
            <a:ext cx="2834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Security &amp; RBAC (DESC ISR v3)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34840" y="4050791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182A22"/>
                </a:solidFill>
                <a:latin typeface="Calibri"/>
              </a:rPr>
              <a:t>14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23559" y="4087367"/>
            <a:ext cx="548640" cy="201168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23559" y="4087367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7959" y="4050791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MFA TOTP · policy registry · audit immutability · SLO health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25111"/>
            <a:ext cx="11247120" cy="274320"/>
          </a:xfrm>
          <a:prstGeom prst="rect">
            <a:avLst/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8640" y="4325111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§11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17320" y="4325111"/>
            <a:ext cx="2834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Hosting &amp; Disaster Recovery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34840" y="4325111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182A22"/>
                </a:solidFill>
                <a:latin typeface="Calibri"/>
              </a:rPr>
              <a:t>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23559" y="4361687"/>
            <a:ext cx="548640" cy="201168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23559" y="4361687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37959" y="4325111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Three options · RTO &lt; 4 h · RPO &lt; 1 h · IaC (Bicep) · CI sec-scan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599431"/>
            <a:ext cx="112471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8640" y="4599431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§13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17320" y="4599431"/>
            <a:ext cx="2834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Code Quality &amp; Documentation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34840" y="4599431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182A22"/>
                </a:solidFill>
                <a:latin typeface="Calibri"/>
              </a:rPr>
              <a:t>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23559" y="4636007"/>
            <a:ext cx="548640" cy="201168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23559" y="4636007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37959" y="4599431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88/88 xUnit pass · 0 warn / 0 err · ARCH · API · RUNBOOK · DR · DICT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" y="4873751"/>
            <a:ext cx="11247120" cy="274320"/>
          </a:xfrm>
          <a:prstGeom prst="rect">
            <a:avLst/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" y="4873751"/>
            <a:ext cx="6858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63525"/>
                </a:solidFill>
                <a:latin typeface="Calibri"/>
              </a:rPr>
              <a:t>§20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17320" y="4873751"/>
            <a:ext cx="2834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ESG &amp; Open Data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34840" y="4873751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182A22"/>
                </a:solidFill>
                <a:latin typeface="Calibr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23559" y="4910327"/>
            <a:ext cx="548640" cy="201168"/>
          </a:xfrm>
          <a:prstGeom prst="rect">
            <a:avLst/>
          </a:prstGeom>
          <a:solidFill>
            <a:srgbClr val="0E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23559" y="4910327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37959" y="4873751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ESG heatmap · /v1/open-data/* · OpenAPI 3.0 · API keys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5148071"/>
            <a:ext cx="11247120" cy="347472"/>
          </a:xfrm>
          <a:prstGeom prst="rect">
            <a:avLst/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48640" y="5148071"/>
            <a:ext cx="1106424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C8A464"/>
                </a:solidFill>
                <a:latin typeface="Calibri"/>
              </a:rPr>
              <a:t>TOTAL  ·  11 sections  ·  99 requirements  ·  11/11 Full Compliance  ·  100 %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5586983"/>
            <a:ext cx="11247120" cy="502920"/>
          </a:xfrm>
          <a:prstGeom prst="rect">
            <a:avLst/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0080" y="5623559"/>
            <a:ext cx="10881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Verification — 88/88 xUnit tests pass · 0 build warnings · 0 build errors · cross-check vs src/ reconciled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" y="5833871"/>
            <a:ext cx="108813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A6C64"/>
                </a:solidFill>
                <a:latin typeface="Calibri"/>
              </a:rPr>
              <a:t>Full traceability in Compliance Matrix (Vol 2) — every line maps to a Domain entity, Application handler and Razor page or controller in src/.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63525"/>
                </a:solidFill>
                <a:latin typeface="Calibri"/>
              </a:rPr>
              <a:t>HARDWARE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A6C64"/>
                </a:solidFill>
                <a:latin typeface="Calibri"/>
              </a:rPr>
              <a:t>Production sizing · per hosting option · UAE-resident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144"/>
          </a:xfrm>
          <a:prstGeom prst="rect">
            <a:avLst/>
          </a:prstGeom>
          <a:solidFill>
            <a:srgbClr val="D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A6C64"/>
                </a:solidFill>
                <a:latin typeface="Calibri"/>
              </a:rPr>
              <a:t>IRETP — Technical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232" y="6528816"/>
            <a:ext cx="822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A6C64"/>
                </a:solidFill>
                <a:latin typeface="Calibri"/>
              </a:rPr>
              <a:t>27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247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63525"/>
                </a:solidFill>
                <a:latin typeface="Calibri"/>
              </a:rPr>
              <a:t>APPLICATION &amp; DATA TIER (steady-state production)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47120" cy="329184"/>
          </a:xfrm>
          <a:prstGeom prst="rect">
            <a:avLst/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1545336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C8A464"/>
                </a:solidFill>
                <a:latin typeface="Calibri"/>
              </a:rPr>
              <a:t>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1992" y="1956816"/>
            <a:ext cx="2505456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C8A464"/>
                </a:solidFill>
                <a:latin typeface="Calibri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1956816"/>
            <a:ext cx="493775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C8A464"/>
                </a:solidFill>
                <a:latin typeface="Calibri"/>
              </a:rPr>
              <a:t>vCPU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3832" y="1956816"/>
            <a:ext cx="676656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C8A464"/>
                </a:solidFill>
                <a:latin typeface="Calibri"/>
              </a:rPr>
              <a:t>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956816"/>
            <a:ext cx="1545336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C8A464"/>
                </a:solidFill>
                <a:latin typeface="Calibri"/>
              </a:rPr>
              <a:t>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1956816"/>
            <a:ext cx="1042416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C8A464"/>
                </a:solidFill>
                <a:latin typeface="Calibri"/>
              </a:rPr>
              <a:t>Instances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1956816"/>
            <a:ext cx="2414015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C8A464"/>
                </a:solidFill>
                <a:latin typeface="Calibri"/>
              </a:rPr>
              <a:t>Azure SKU equivalent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49424"/>
            <a:ext cx="11247120" cy="292608"/>
          </a:xfrm>
          <a:prstGeom prst="rect">
            <a:avLst/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249424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63525"/>
                </a:solidFill>
                <a:latin typeface="Calibri"/>
              </a:rPr>
              <a:t>IRETP.Web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1992" y="2249424"/>
            <a:ext cx="25054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Blazor Server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2249424"/>
            <a:ext cx="49377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2" y="2249424"/>
            <a:ext cx="676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16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249424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64 GB SSD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2249424"/>
            <a:ext cx="10424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2 (HA)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2249424"/>
            <a:ext cx="241401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D4s_v5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542032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542032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63525"/>
                </a:solidFill>
                <a:latin typeface="Calibri"/>
              </a:rPr>
              <a:t>IRETP.WebAPI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21992" y="2542032"/>
            <a:ext cx="25054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Public + Investor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2542032"/>
            <a:ext cx="49377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3832" y="2542032"/>
            <a:ext cx="676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16 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542032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64 GB SSD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2" y="2542032"/>
            <a:ext cx="10424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2 (HA)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2542032"/>
            <a:ext cx="241401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D4s_v5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834639"/>
            <a:ext cx="11247120" cy="292608"/>
          </a:xfrm>
          <a:prstGeom prst="rect">
            <a:avLst/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2834639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63525"/>
                </a:solidFill>
                <a:latin typeface="Calibri"/>
              </a:rPr>
              <a:t>IRETP.AdminAPI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21992" y="2834639"/>
            <a:ext cx="25054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Internal DLD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73752" y="2834639"/>
            <a:ext cx="49377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13832" y="2834639"/>
            <a:ext cx="676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8 GB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2834639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64 GB SSD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2" y="2834639"/>
            <a:ext cx="10424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2 (HA)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2834639"/>
            <a:ext cx="241401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D2s_v5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127247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3127247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63525"/>
                </a:solidFill>
                <a:latin typeface="Calibri"/>
              </a:rPr>
              <a:t>Hangfire worker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21992" y="3127247"/>
            <a:ext cx="25054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EWRS · alerts · KPI refresh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3752" y="3127247"/>
            <a:ext cx="49377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13832" y="3127247"/>
            <a:ext cx="676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16 GB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3127247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128 GB SSD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8432" y="3127247"/>
            <a:ext cx="10424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2 (HA)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7152" y="3127247"/>
            <a:ext cx="241401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D4s_v5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419855"/>
            <a:ext cx="11247120" cy="292608"/>
          </a:xfrm>
          <a:prstGeom prst="rect">
            <a:avLst/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3419855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63525"/>
                </a:solidFill>
                <a:latin typeface="Calibri"/>
              </a:rPr>
              <a:t>SQL Server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21992" y="3419855"/>
            <a:ext cx="25054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Primary OLTP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73752" y="3419855"/>
            <a:ext cx="49377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13832" y="3419855"/>
            <a:ext cx="676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64 GB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36792" y="3419855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1 TB Premium SSD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28432" y="3419855"/>
            <a:ext cx="10424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1 + replica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17152" y="3419855"/>
            <a:ext cx="241401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MI BC 8 vCore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712463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" y="3712463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63525"/>
                </a:solidFill>
                <a:latin typeface="Calibri"/>
              </a:rPr>
              <a:t>OneLake / Blob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21992" y="3712463"/>
            <a:ext cx="25054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Lakehouse + exports + CMS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73752" y="3712463"/>
            <a:ext cx="49377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13832" y="3712463"/>
            <a:ext cx="676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36792" y="3712463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5 TB GRS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28432" y="3712463"/>
            <a:ext cx="10424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17152" y="3712463"/>
            <a:ext cx="241401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Storage v2 (GRS)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005072"/>
            <a:ext cx="11247120" cy="292608"/>
          </a:xfrm>
          <a:prstGeom prst="rect">
            <a:avLst/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" y="4005072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63525"/>
                </a:solidFill>
                <a:latin typeface="Calibri"/>
              </a:rPr>
              <a:t>Key Vault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21992" y="4005072"/>
            <a:ext cx="25054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Secrets · MSI · rotation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73752" y="4005072"/>
            <a:ext cx="49377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13832" y="4005072"/>
            <a:ext cx="676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36792" y="4005072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28432" y="4005072"/>
            <a:ext cx="10424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17152" y="4005072"/>
            <a:ext cx="241401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Premium (HSM)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297680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0352" y="4297680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63525"/>
                </a:solidFill>
                <a:latin typeface="Calibri"/>
              </a:rPr>
              <a:t>Front Door + WAF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21992" y="4297680"/>
            <a:ext cx="25054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Edge · OWASP · DDoS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73752" y="4297680"/>
            <a:ext cx="49377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13832" y="4297680"/>
            <a:ext cx="676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36792" y="4297680"/>
            <a:ext cx="15453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28432" y="4297680"/>
            <a:ext cx="10424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82A22"/>
                </a:solidFill>
                <a:latin typeface="Calibri"/>
              </a:rPr>
              <a:t>Global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17152" y="4297680"/>
            <a:ext cx="241401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82A22"/>
                </a:solidFill>
                <a:latin typeface="Calibri"/>
              </a:rPr>
              <a:t>Premium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4773168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63525"/>
                </a:solidFill>
                <a:latin typeface="Calibri"/>
              </a:rPr>
              <a:t>TOTAL FOOTPRINT BY HOSTING OPTION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5065776"/>
            <a:ext cx="3657600" cy="5486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7200" y="5065776"/>
            <a:ext cx="3657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5138928"/>
            <a:ext cx="33832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Option A — Azure UAE North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" y="5340096"/>
            <a:ext cx="33832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A6C64"/>
                </a:solidFill>
                <a:latin typeface="Calibri"/>
              </a:rPr>
              <a:t>Managed PaaS · MSI · GRS backup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4360" y="5522976"/>
            <a:ext cx="33832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182A22"/>
                </a:solidFill>
                <a:latin typeface="Calibri"/>
              </a:rPr>
              <a:t>App: P1v3 (~12 vCPU / 48 GB)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" y="5669280"/>
            <a:ext cx="33832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182A22"/>
                </a:solidFill>
                <a:latin typeface="Calibri"/>
              </a:rPr>
              <a:t>Data: MI BC 8 vCore  ·  5 TB GRS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4360" y="5815584"/>
            <a:ext cx="33832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0E4E37"/>
                </a:solidFill>
                <a:latin typeface="Calibri"/>
              </a:rPr>
              <a:t>RPO ≤ 1 h  ·  RTO &lt; 4 h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06240" y="5065776"/>
            <a:ext cx="3657600" cy="5486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206240" y="5065776"/>
            <a:ext cx="3657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43400" y="5138928"/>
            <a:ext cx="33832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Option B — On-Prem (DLD DC)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43400" y="5340096"/>
            <a:ext cx="33832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A6C64"/>
                </a:solidFill>
                <a:latin typeface="Calibri"/>
              </a:rPr>
              <a:t>Bare-metal VMs · DLD-managed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43400" y="5522976"/>
            <a:ext cx="33832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182A22"/>
                </a:solidFill>
                <a:latin typeface="Calibri"/>
              </a:rPr>
              <a:t>App: 4 hosts × 8 vCPU / 32 GB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43400" y="5669280"/>
            <a:ext cx="33832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182A22"/>
                </a:solidFill>
                <a:latin typeface="Calibri"/>
              </a:rPr>
              <a:t>Data: SQL 2022 Cluster  ·  10 TB SAN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43400" y="5815584"/>
            <a:ext cx="33832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0E4E37"/>
                </a:solidFill>
                <a:latin typeface="Calibri"/>
              </a:rPr>
              <a:t>RPO ≤ 1 h  ·  RTO &lt; 4 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955279" y="5065776"/>
            <a:ext cx="3657600" cy="54864"/>
          </a:xfrm>
          <a:prstGeom prst="rect">
            <a:avLst/>
          </a:prstGeom>
          <a:solidFill>
            <a:srgbClr val="C8A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955279" y="5065776"/>
            <a:ext cx="3657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92440" y="5138928"/>
            <a:ext cx="33832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63525"/>
                </a:solidFill>
                <a:latin typeface="Calibri"/>
              </a:rPr>
              <a:t>Option C — Hybrid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92440" y="5340096"/>
            <a:ext cx="33832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5A6C64"/>
                </a:solidFill>
                <a:latin typeface="Calibri"/>
              </a:rPr>
              <a:t>Compute on-prem · lakehouse Azure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92440" y="5522976"/>
            <a:ext cx="33832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182A22"/>
                </a:solidFill>
                <a:latin typeface="Calibri"/>
              </a:rPr>
              <a:t>App: 3 hosts × 8 vCPU / 32 GB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92440" y="5669280"/>
            <a:ext cx="33832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182A22"/>
                </a:solidFill>
                <a:latin typeface="Calibri"/>
              </a:rPr>
              <a:t>Data: SQL on-prem + OneLake (UAE)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92440" y="5815584"/>
            <a:ext cx="33832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0E4E37"/>
                </a:solidFill>
                <a:latin typeface="Calibri"/>
              </a:rPr>
              <a:t>RPO ≤ 1 h  ·  RTO &lt; 4 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6089904"/>
            <a:ext cx="11247120" cy="420624"/>
          </a:xfrm>
          <a:prstGeom prst="rect">
            <a:avLst/>
          </a:prstGeom>
          <a:solidFill>
            <a:srgbClr val="06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0080" y="6117336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C8A464"/>
                </a:solidFill>
                <a:latin typeface="Calibri"/>
              </a:rPr>
              <a:t>MANDATORY — every option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" y="6291072"/>
            <a:ext cx="108813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TLS 1.2+ end-to-end  ·  segregated networks (Web/API/Admin)  ·  daily encrypted backups  ·  HSM-backed keys  ·  WAF + DDoS L7  ·  UAE-resident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