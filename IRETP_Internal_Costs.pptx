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COST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Indicative · AED · ex-VAT · Option A: Azure UAE North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C8A464"/>
                </a:solidFill>
                <a:latin typeface="Georgia"/>
              </a:rPr>
              <a:t>AED 2.58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Total one-time CAPEX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B99F"/>
                </a:solidFill>
                <a:latin typeface="Calibri"/>
              </a:rPr>
              <a:t>Infra + Licences + Application 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69164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9202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C8A464"/>
                </a:solidFill>
                <a:latin typeface="Georgia"/>
              </a:rPr>
              <a:t>AED 629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Annual OPEX (Year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7614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B99F"/>
                </a:solidFill>
                <a:latin typeface="Calibri"/>
              </a:rPr>
              <a:t>Includes 12-month warranty &amp;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69164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202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C8A464"/>
                </a:solidFill>
                <a:latin typeface="Georgia"/>
              </a:rPr>
              <a:t>AED 2.01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Application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7614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CB99F"/>
                </a:solidFill>
                <a:latin typeface="Calibri"/>
              </a:rPr>
              <a:t>1,095 person-days across 4 months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337560"/>
          <a:ext cx="11247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194560"/>
                <a:gridCol w="1554480"/>
                <a:gridCol w="201168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category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 (AED)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Infrastructure CAPEX (Option A)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335,500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One-time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see breakdown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Software Licences (Year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235,200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One-time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see breakdown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Application development (M1–M4)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2,007,000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One-time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split M1–2 / M3–4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Total one-time CAPEX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2,577,700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Annual OPEX (Option A)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629,200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Recurring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see breakdown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B9491"/>
                </a:solidFill>
                <a:latin typeface="Calibri"/>
              </a:rPr>
              <a:t>Blended day rates: Architect AED 2,200 · Senior Developer 1,800 · Mid Developer 1,500 · QA / DevOps 1,400.  The next four slides break each category down line-by-line.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INFRASTRUCTURE CAPEX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One-time setup · costed across three hosting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194560"/>
                <a:gridCol w="2103120"/>
                <a:gridCol w="2103120"/>
              </a:tblGrid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Infrastructure item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Option A — Azure UAE North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Option B — On-Premises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Option C — Hybrid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Compute · App Service / VMs (3 hosts)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320,000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220,000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SQL Server (managed / licensed)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120,000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Redis cache cluster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85,000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Azure AI Search / vector index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65,000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Microsoft Fabric / OneLake lakehouse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Blob Storage / on-prem NAS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55,000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WAF + Front Door / on-prem F5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140,000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95,000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CDN (public static assets)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Private endpoints + site-to-site network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14,000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60,000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DR · cross-region replication (≤ 4 h RPO)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95,000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SSL certificates (wildcard, 3-year)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4,500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4,500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4,500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Monitoring · telemetry (Azure Monitor / Seq)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Initial security hardening + pen-test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55,000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55,000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55,000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Subtotal (AED)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335,500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1,414,500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793,500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B9491"/>
                </a:solidFill>
                <a:latin typeface="Calibri"/>
              </a:rPr>
              <a:t>DLD selects the hosting model at contract signature; the rest of the financials adjust accordingly. AI inference and personal data remain UAE-resident on any option.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SOFTWARE LICENCES · SUBSCRIPTIONS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Year-1 stack · open-source components excluded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377440"/>
                <a:gridCol w="2194560"/>
                <a:gridCol w="731520"/>
                <a:gridCol w="2103120"/>
              </a:tblGrid>
              <a:tr h="3740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Licence / Subscription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Unit cost (AED)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Annual (AED)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.NET 9 runtime + ASP.NET Core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Microsoft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Open-source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Visual Studio Enterprise (dev seats)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Microsoft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12,800 / seat / yr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Hangfire Pro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HangfireIO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7,200 / server / yr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14,400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Azure OpenAI Service (tokens)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Microsoft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Consumption-based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90,000 est.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AI fallback model (Anthropic API)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Consumption-based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40,000 est.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SMTP relay (SendGrid / Postmark)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Twilio / Postmark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2,400 / yr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SMS gateway (UAE operator)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Per-message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18,000 est.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PDF generation (QuestPDF)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QuestPDF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2,800 / yr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2,800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Seq log server (cloud)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Datalust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3,600 / yr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3,600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40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Subtotal (Year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235,200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B9491"/>
                </a:solidFill>
                <a:latin typeface="Calibri"/>
              </a:rPr>
              <a:t>Token-priced AI usage will be re-tiered at contract based on agreed monthly volume; estimate above sized on internal traffic projections.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APPLICATION DEVELOPMENT · MONTHS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Phase 1 + Phase 2 deliverables · effort and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1371600"/>
                <a:gridCol w="1280160"/>
                <a:gridCol w="18288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Effort (PD)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Cost (AED)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External Public Portal (CMS · Dashboard · Transactions · Map · Indices)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216,000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Bilingual EN/AR · RTL · i18n pipeline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72,000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Slice &amp; Dice Analytics engine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108,000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Real Estate AI Agent (Orchestrator · RAG · guardrails)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180,000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Investor Notifications (email / SMS / in-platform)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108,000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Open Data API · Developer Portal · API-key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Perf hardening · Redis cache · EF tuning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54,000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1 QA · UAT 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 · 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1 subtotal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882,000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Watchlist v2 · ESG · GRETI sub-index tracker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M2 · P2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144,000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Analytics enhancements · saved views · embed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M2 · P2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72,000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Performance hardening · OpenTelemetry · load-test sign-off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M2 · P2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2 QA · UAT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M2 · P2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2 subtotal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306,000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M1 + M2 cumulative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M1–M2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660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1,188,000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B9491"/>
                </a:solidFill>
                <a:latin typeface="Calibri"/>
              </a:rPr>
              <a:t>M1 is the heaviest spend — the External Portal and AI Agent stack land in the first month and underpin every later phase.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APPLICATION DEVELOPMENT · MONTHS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Phase 3 + Phase 4 deliverables · effort and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1371600"/>
                <a:gridCol w="1280160"/>
                <a:gridCol w="182880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Effort (PD)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Cost (AED)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EWRS (risk engine · L1–L4 escalation · dashboard · playbooks)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M3 · P3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180,000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Developer Performance &amp; Rating + Escrow Monitoring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M3 · P3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144,000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Beneficial Ownership · Mortgage analytics · Name Validation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M3 · P3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72,000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DESC ISR v3 hardening + VAPT (external consultant)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M3 · P3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3 QA · UAT · security acceptance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M3 · P3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3 subtotal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531,000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Multilingual extension (ZH · RU · UR · FR · HI · DE) + AI multi-language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M4 · P4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162,000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Advanced analytics · AI fine-tuning pipeline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M4 · 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4 QA · UAT · language acceptance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M4 · P4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Phase 4 subtotal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288,000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Total application development (M1–M4)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M1–M4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1,095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2,007,000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B9491"/>
                </a:solidFill>
                <a:latin typeface="Calibri"/>
              </a:rPr>
              <a:t>Phase 3 carries the DESC-authorised VAPT engagement (external consultant, AED 90 K embedded in the line item) — clean report required before Phase 3 UAT sign-off.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ANNUAL OPEX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Year-1 recurring · three hosting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194560"/>
                <a:gridCol w="2103120"/>
                <a:gridCol w="2103120"/>
              </a:tblGrid>
              <a:tr h="33059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OPEX item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Option A — Azure UAE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Option B — On-Premises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Option C — Hybrid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Compute · VM · App Service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85,000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75,000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SQL Server (managed annual)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24,000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Redis · caching annual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AI model API consumption (annual est.)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130,000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130,000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130,000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OneLake · Fabric storage &amp; compute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68,000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42,000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Monitoring &amp; SIEM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22,000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SMTP · SMS channels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20,400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20,400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20,400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Software licences (annual renewal)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84,800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84,800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84,800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Warranty &amp; support (12-mo post go-live)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180,000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Security patching · monthly scans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Data quality · reconciliation tooling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306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141A18"/>
                          </a:solidFill>
                          <a:latin typeface="Calibri"/>
                        </a:rPr>
                        <a:t>Annual OPEX (Year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629,200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686,200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41A18"/>
                          </a:solidFill>
                          <a:latin typeface="Calibri"/>
                        </a:rPr>
                        <a:t>654,200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B9491"/>
                </a:solidFill>
                <a:latin typeface="Calibri"/>
              </a:rPr>
              <a:t>OPEX starts the month after go-live. Warranty &amp; support pricing applies to all three hosting options at parity.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PAYMENT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Pay on UAT sign-off · 6 gates across 4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4712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10512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9280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Contract 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928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10 %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89280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AED 200,700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41448"/>
            <a:ext cx="1124712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560320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42616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Week 1 — mobilisation complete (infrastructure live · team onboard)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4261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10 %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642616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AED 200,700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91256"/>
            <a:ext cx="1124712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310128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1012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392424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End of Month 1 — Phase 1 UAT sign-off (External Portal · AI Agent · Open Data)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92424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25 %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39242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AED 501,750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41064"/>
            <a:ext cx="1124712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059936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5993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14223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End of Month 2 — Phase 2 UAT sign-off (ESG · GRETI · Analytics v2)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42232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15 %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14223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AED 301,050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90872"/>
            <a:ext cx="1124712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809744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09744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M4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8920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End of Month 3 — Phase 3 UAT sign-off (EWRS · Dev Rating · Escrow · VAPT clean)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25 %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8920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AED 501,750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40680"/>
            <a:ext cx="1124712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559552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595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64184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End of Month 4 — Phase 4 UAT sign-off (Multilingual · Advanced Analytics)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64184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15 %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64184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AED 301,050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100 % of AED 2,007,000 development CAPEX is conditional on DLD-signed acceptance certificates.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