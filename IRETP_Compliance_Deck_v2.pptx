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Helvetica World" charset="1" panose="020B0500040000020004"/>
      <p:regular r:id="rId30"/>
    </p:embeddedFont>
    <p:embeddedFont>
      <p:font typeface="Georgia Pro Condensed" charset="1" panose="02040506050405020303"/>
      <p:regular r:id="rId31"/>
    </p:embeddedFont>
    <p:embeddedFont>
      <p:font typeface="Helvetica World Bold" charset="1" panose="020B08000400000200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D4E6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IRETP Platform Overview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D4E6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[Your Name]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5790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Integrated Real Estate Transparency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Executive Summary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Overview of Platform Capabilities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is set to deliver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comprehensive compliance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with the DLD requirements, achieving functional coverage and seamless integration while ensuring a robust user experience and data transparency.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Understanding the Mandate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DLD's Requirements for IRETP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Dubai Land Department seeks a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single integrated platform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that ensures transparency, risk oversight, and bilingual functionality, addressing public and regulatory needs efficiently and effectively.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Stakeholders Served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Four distinct audiences, one platform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caters to four key stakeholders, including the public, DLD regulatory staff, developers, and government ministries, ensuring tailored solutions for transparency and risk oversight across all levels.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Headline Commitments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Our Targets for Success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are committed to achieving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100% functional coverage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at Go-Live, with high availability, quick response times, and stringent data residency, ensuring a reliable platform for users.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Solution Architecture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Three-Tier Structure for Efficiency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features a robust, clean architecture comprising three web tiers: public interface, API services, and internal administration, ensuring optimal performance, security, and user experience throughout.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Transparency Foundations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elements of our framework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Transparency Index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Transparency Index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serves as a comprehensive composite that aggregates data from peer cities, allowing users to track changes over time and make informed decisions.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30525"/>
            <a:chOff x="0" y="0"/>
            <a:chExt cx="5346700" cy="3907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Price Index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Price Index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employs repeat-sales and hedonic methodologies to provide accurate insights for various city zones and property types, ensuring transparency in market value assessments.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82950"/>
            <a:chOff x="0" y="0"/>
            <a:chExt cx="5346700" cy="4377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Developer Scorecards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9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Developer Scorecards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offer public ratings and detailed pages for each developer, empowering stakeholders to evaluate performance and foster accountability within the real estate sector.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Risk and Disclosure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Addressing Benchmarks and Transparency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Escrow Monitoring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offers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comprehensive escrow monitoring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real-time tracking of balances and drawdowns to identify anomalies and safeguard stakeholder interests effectively.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AML Compliance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adhere to strict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AML regulations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providing tools for beneficial ownership disclosure that enhances transparency and enables regulatory staff to effectively monitor compliance.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606675"/>
            <a:chOff x="0" y="0"/>
            <a:chExt cx="5346700" cy="34755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Mortgage Transparency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system features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mortgage transparency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allowing users to access a detailed register view that promotes informed decision-making in the real estate market.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EWRS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Comprehensive Early Warning and Risk 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25675"/>
            <a:chOff x="0" y="0"/>
            <a:chExt cx="7670800" cy="2967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Automated Escalation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EWRS implements a </a:t>
              </a:r>
              <a:r>
                <a:rPr lang="en-US" b="true" sz="2000" spc="-30" strike="noStrike" u="none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four-level</a:t>
              </a: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auto-escalation system, ensuring timely response to risk indicators evaluated every 15 minutes for optimal oversight and management.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Multi-Channel Alerts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Notifications are sent through various channels, including email, SMS, and in-app alerts, ensuring that stakeholders receive timely updates and can act quickly on critical information.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Analytics &amp; KPI Dashboards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Real-time Insights for Decision Making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features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real-time analytics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comprehensive KPI dashboards, ensuring that decision-makers have access to critical data for effective governance and transparency in real estate transactions.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Bilingual AI Capability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Enhancing User Experience in Two Languages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features a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fully bilingual AI agent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seamless interaction in both Arabic and English, enhancing accessibility and user engagement while promoting broader adoption across diverse audiences.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057650"/>
            <a:chOff x="0" y="0"/>
            <a:chExt cx="17259300" cy="541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AI Governance Framework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Ensuring Trust and Accountability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2341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AI governance framework integrates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robust guardrails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ensure compliance, promote transparency, and maintain accountability throughout the AI lifecycle, fostering trust in all automated interactions within our platform.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Open Data Portal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Transparency and Accessibility for All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Open Data Portal facilitates seamless access to datasets, enhancing transparency and encouraging public engagement, while fostering innovation through an intuitive interface for developers and users alike.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933950"/>
            <a:chOff x="0" y="0"/>
            <a:chExt cx="17259300" cy="6578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ESG &amp; International Benchmarking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498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Comprehensive evaluation and reporting framework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17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integrates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ESG metrics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international standards, ensuring projects meet mapping requirements while enhancing transparency and accountability for stakeholders in the real estate sector.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Non-Functional Requirements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Engineered to meet stringent SLAs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is designed for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maximum performance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ensuring P95 page load under 2.0 seconds and 99.9% public availability, while adhering to strict security and compliance standards.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19500"/>
            <a:chOff x="0" y="0"/>
            <a:chExt cx="17259300" cy="4826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Security &amp; Identity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Ensuring Robust Protection and Access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56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adopts a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zero-trust security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posture, integrating UAE Pass OIDC and mandatory MFA to safeguard data and ensure secure access for users at all levels.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D4E6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57600"/>
            <a:chOff x="0" y="0"/>
            <a:chExt cx="17259300" cy="48768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9AAAB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Compliance Framework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9AAABB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End-to-End Data Residency Assurance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8076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Our platform adheres to strict compliance standards, ensuring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100% UAE data residency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across all components, including AI, backups, logs, and telemetry, safeguarding sensitive information effectively.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9AAAB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Month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the first month, the focus is on mobilization, setting up environments, and designing integration strategies, leading to a critical Gate G1 assessment for project readiness.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9AAAB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Month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second month emphasizes integration and hardening of the platform, completing vulnerability assessments and tuning AI accuracy, culminating in a crucial Gate G2 review of progress.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3367087"/>
            <a:ext cx="54483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9AAAB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Month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final month focuses on user acceptance testing (UAT), obtaining DESC-CSP audit approval, and preparing for Go-Live, ensuring all milestones are met by Week 12.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9AAA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3-Month Implementation Plan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Initial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QA process begins with unit and integration tests to ensure that all components function correctly, focusing on essential features and expected outcomes across the platform.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Performance Assessment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User Acceptance Testing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Performance testing is conducted using k6 to validate that all non-functional requirements are met, ensuring the platform operates effectively under expected load conditions and responds promptly.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acceptance testing (UAT) is performed to confirm that the platform meets user needs and expectations, incorporating feedback from stakeholders to refine functionalities and enhance user experience.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Security Review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comprehensive security review follows, including OWASP ASVS L2 assessments and external VAPT, identifying vulnerabilities and ensuring the robustness of the platform’s security posture before launch.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9AAA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Quality Assurance Timeline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Timeline of Events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3367087"/>
            <a:ext cx="2876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Contract Award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7586" y="3367087"/>
            <a:ext cx="2876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Kickoff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118" y="5105400"/>
            <a:ext cx="2876550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project enters its official phase with the </a:t>
            </a:r>
            <a:r>
              <a:rPr lang="en-US" b="true" sz="2000" spc="-30" strike="noStrike" u="none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contract award</a:t>
            </a: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marking the commencement of all planned activities and setting the foundation for the upcoming milestones.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87586" y="5105400"/>
            <a:ext cx="2876550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000" spc="-30" strike="noStrike" u="none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kickoff</a:t>
            </a: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involves initial meetings to discuss objectives, roles, and responsibilities, ensuring that all stakeholders are aligned and ready for the upcoming tasks.</a:t>
            </a:r>
          </a:p>
        </p:txBody>
      </p:sp>
      <p:sp>
        <p:nvSpPr>
          <p:cNvPr name="AutoShape 7" id="7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9AAAB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87586" y="4248150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06054" y="4248150"/>
            <a:ext cx="323850" cy="32385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24522" y="4248150"/>
            <a:ext cx="323850" cy="323850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742990" y="4248150"/>
            <a:ext cx="323850" cy="323850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9AAAB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06054" y="3367087"/>
            <a:ext cx="2876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Sandbox Access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4522" y="3367087"/>
            <a:ext cx="2876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Client Registration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42990" y="2967037"/>
            <a:ext cx="287655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Steering Committee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06054" y="5105400"/>
            <a:ext cx="2876550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By </a:t>
            </a:r>
            <a:r>
              <a:rPr lang="en-US" b="true" sz="2000" spc="-30" strike="noStrike" u="none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week 2</a:t>
            </a: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sandbox access will be provided, allowing integration with DLD source systems. This facilitates early testing and validation of functionalities within the live environment.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24522" y="5105400"/>
            <a:ext cx="2876550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b="true" sz="2000" spc="-30" strike="noStrike" u="none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UAE Pass</a:t>
            </a: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client registration is set for approval by week 2, ensuring that all users can securely access the system with verified credentials, enhancing data protection protocols.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42990" y="5105400"/>
            <a:ext cx="2876550" cy="283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b="true" sz="2000" spc="-30" strike="noStrike" u="none">
                <a:solidFill>
                  <a:srgbClr val="D9E2F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steering committee</a:t>
            </a:r>
            <a:r>
              <a:rPr lang="en-US" sz="2000" spc="-30" strike="noStrike" u="none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will establish a cadence for meetings every two weeks through to week 12, allowing for ongoing oversight and adjustments based on project progress and feedback.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D4E6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409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Proactive Risk Mitigation Strategies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D9E2F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D9E2F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656523"/>
            <a:chOff x="0" y="0"/>
            <a:chExt cx="9182100" cy="35420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Integration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237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Early engagement with the integration team ensures timely sandbox availability and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mock contracts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by Week 1, reducing the risk of delays during the implementation phase.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3037523"/>
            <a:chOff x="0" y="0"/>
            <a:chExt cx="9182100" cy="40500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AI Accuracy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745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deterministic analytics overlay combined with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iterative tuning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safeguards against inaccuracies, enhancing the reliability of AI responses and maintaining user trust in the platform’s data outputs.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D4E6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Compliance Matrix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D9E2F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D9E2F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627948"/>
            <a:chOff x="0" y="0"/>
            <a:chExt cx="9182100" cy="35039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Implemented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19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All foundational requirements from FR-001 to FR-010 are fully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integrated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into the platform, ensuring transparency and robustness in the real estate market.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2627948"/>
            <a:chOff x="0" y="0"/>
            <a:chExt cx="9182100" cy="35039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Live Data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19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Early Warning &amp; Risk System (EWRS) operates on </a:t>
              </a:r>
              <a:r>
                <a:rPr lang="en-US" b="true" sz="2499" spc="-37">
                  <a:solidFill>
                    <a:srgbClr val="D9E2F2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real DLD data</a:t>
              </a:r>
              <a:r>
                <a:rPr lang="en-US" sz="2499" spc="-37">
                  <a:solidFill>
                    <a:srgbClr val="D9E2F2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providing timely insights and alerts for enhanced oversight and risk management across various stakeholders.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6B7EA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D9E2F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Pathway to successful implementation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9AAAB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Next Steps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IRETP Platform Overview</dc:description>
  <dc:identifier>DAHJKp9agro</dc:identifier>
  <dcterms:modified xsi:type="dcterms:W3CDTF">2011-08-01T06:04:30Z</dcterms:modified>
  <cp:revision>1</cp:revision>
  <dc:title>Presentation - IRETP Platform Overview</dc:title>
</cp:coreProperties>
</file>